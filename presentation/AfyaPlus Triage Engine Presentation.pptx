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p:scale>
          <a:sx n="72" d="100"/>
          <a:sy n="72" d="100"/>
        </p:scale>
        <p:origin x="754" y="9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06-Jul-26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presenting the AfyaPlus Triage Engine — a working prototype that takes unstructured patient messages and turns them into structured triage decisions our backend can actually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AfyaPlus patients don't send neat medical forms. They text things like 'I have a bad headache, swollen feet, and blurry vision' — which, in a pregnant patient, can be early warning signs of preeclampsia we absolutely cannot miss. Our backend can't process that directly — it needs a clear answer: is this an emergency, what symptoms were mentioned, and where should we route this patient? Our initial testing showed three failures: the AI added friendly chat text we couldn't parse, it made up symptoms patients never said, and the whole system crashed when the network went down. For a health platform, that's a serious business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an inference engine — but what matters to the business is what it does. A patient types their symptoms. The engine reads it, classifies urgency, and returns the same fixed structure every single time. The backend always gets the same four fields in the same format. And if the cloud service fails, the system automatically switches to a local AI model running on our own hardware — so we never fully go down.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GPT-4o-mini as our primary model because it's fast — about 3 seconds — cheap, and good at structured output. It correctly flagged a broken leg with exposed bone as a critical emergency in under 3 seconds. But we can't rely on the cloud alone. Kenya's connectivity isn't always perfect, and outages happen. So we integrated llama3.2 through Ollama as our backup. It runs locally, costs nothing per message, and kicks in automatically when the cloud fails. In testing it was about twice as slow — around 7 seconds — and occasionally less accurate, but the system kept running. That's the trade-off we accepted: best quality online, never fully offline.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versions of our prompt failed. The AI said 'Hello, thank you for reaching out' before its answer. It added symptoms patients never mentioned. We iterated three times. The final prompt tells the AI exactly what it is — a routing engine, not a doctor. It must follow four reasoning steps before answering. And we blacklisted specific behaviours: no diagnosing, no invented symptoms, no treatment advice, no chatty text. We also locked routing to five fixed destinations so the backend always gets predictable values.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direct about limitations, because that's what leadership needs to hear. This is a Week 1 prototype — it is not clinically validated and should not drive real patient decisions without review. Our local fallback once rated difficulty breathing as non-critical when it probably shouldn't have — that shows smaller local models miss nuance. When we use the cloud, patient messages leave our infrastructure, which is a privacy concern we'd need to address. There's no human in the loop yet — if the AI routes wrong, nobody catches it. And response times vary. This system proves we can build the pipeline. Production would need clinical sign-off, audit trails, a human review step for emergencies, and Kenya-specific compliance review.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we proved the full pipeline works. Patient message in, structured triage decision out. Cloud for speed and accuracy, local for resilience. Guardrails keep the AI in its lane. We documented everything — prompts, latency, and sample runs. What comes next is clinical validation, adding a human review step for emergencies, audit logging, and making sure we comply with Kenya's data protection requirements. The foundation is built.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1783080"/>
            <a:ext cx="3063240" cy="1371600"/>
          </a:xfrm>
          <a:prstGeom prst="rect">
            <a:avLst/>
          </a:prstGeom>
          <a:noFill/>
          <a:ln/>
        </p:spPr>
        <p:txBody>
          <a:bodyPr wrap="square" rtlCol="0"/>
          <a:lstStyle>
            <a:lvl1pPr marL="0" indent="0" algn="l">
              <a:buNone/>
              <a:defRPr lang="en-US" sz="3300" b="1" dirty="0">
                <a:solidFill>
                  <a:srgbClr val="FFFFFF"/>
                </a:solidFill>
                <a:latin typeface="Trebuchet MS" pitchFamily="34" charset="0"/>
                <a:ea typeface="Trebuchet MS" pitchFamily="34" charset="-122"/>
                <a:cs typeface="Trebuchet MS" pitchFamily="34" charset="-120"/>
              </a:defRPr>
            </a:lvl1pPr>
          </a:lstStyle>
          <a:p>
            <a:pPr marL="0" indent="0" algn="l">
              <a:buNone/>
            </a:pPr>
            <a:endParaRPr lang="en-US" sz="3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F766E"/>
          </a:solidFill>
          <a:ln/>
        </p:spPr>
      </p:sp>
      <p:sp>
        <p:nvSpPr>
          <p:cNvPr id="3" name="Text 1"/>
          <p:cNvSpPr>
            <a:spLocks noGrp="1"/>
          </p:cNvSpPr>
          <p:nvPr>
            <p:ph type="title" idx="101" hasCustomPrompt="1"/>
          </p:nvPr>
        </p:nvSpPr>
        <p:spPr>
          <a:xfrm>
            <a:off x="502920" y="256032"/>
            <a:ext cx="8138160" cy="658368"/>
          </a:xfrm>
          <a:prstGeom prst="rect">
            <a:avLst/>
          </a:prstGeom>
          <a:noFill/>
          <a:ln/>
        </p:spPr>
        <p:txBody>
          <a:bodyPr wrap="square" rtlCol="0"/>
          <a:lstStyle>
            <a:lvl1pPr marL="0" indent="0" algn="l">
              <a:buNone/>
              <a:defRPr lang="en-US" sz="2600" b="1" dirty="0">
                <a:solidFill>
                  <a:srgbClr val="134E4A"/>
                </a:solidFill>
                <a:latin typeface="Trebuchet MS" pitchFamily="34" charset="0"/>
                <a:ea typeface="Trebuchet MS" pitchFamily="34" charset="-122"/>
                <a:cs typeface="Trebuchet MS"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66760" y="4828032"/>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66760" y="4828032"/>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90211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F766E"/>
          </a:solidFill>
          <a:ln/>
        </p:spPr>
        <p:txBody>
          <a:bodyPr/>
          <a:lstStyle/>
          <a:p>
            <a:endParaRPr lang="en-KE"/>
          </a:p>
        </p:txBody>
      </p:sp>
      <p:sp>
        <p:nvSpPr>
          <p:cNvPr id="3" name="Shape 1"/>
          <p:cNvSpPr/>
          <p:nvPr/>
        </p:nvSpPr>
        <p:spPr>
          <a:xfrm>
            <a:off x="0" y="0"/>
            <a:ext cx="146304" cy="5143500"/>
          </a:xfrm>
          <a:prstGeom prst="rect">
            <a:avLst/>
          </a:prstGeom>
          <a:solidFill>
            <a:srgbClr val="14B8A6"/>
          </a:solidFill>
          <a:ln/>
        </p:spPr>
        <p:txBody>
          <a:bodyPr/>
          <a:lstStyle/>
          <a:p>
            <a:endParaRPr lang="en-KE"/>
          </a:p>
        </p:txBody>
      </p:sp>
      <p:sp>
        <p:nvSpPr>
          <p:cNvPr id="4" name="Text 2"/>
          <p:cNvSpPr/>
          <p:nvPr/>
        </p:nvSpPr>
        <p:spPr>
          <a:xfrm>
            <a:off x="502920" y="1143000"/>
            <a:ext cx="3108960" cy="320040"/>
          </a:xfrm>
          <a:prstGeom prst="rect">
            <a:avLst/>
          </a:prstGeom>
          <a:noFill/>
          <a:ln/>
        </p:spPr>
        <p:txBody>
          <a:bodyPr wrap="square" lIns="0" tIns="0" rIns="0" bIns="0" rtlCol="0" anchor="ctr"/>
          <a:lstStyle/>
          <a:p>
            <a:pPr marL="0" indent="0">
              <a:buNone/>
            </a:pPr>
            <a:r>
              <a:rPr lang="en-US" sz="1200" b="1" kern="0" spc="300" dirty="0">
                <a:solidFill>
                  <a:srgbClr val="99F6E4"/>
                </a:solidFill>
                <a:latin typeface="Calibri" pitchFamily="34" charset="0"/>
                <a:ea typeface="Calibri" pitchFamily="34" charset="-122"/>
                <a:cs typeface="Calibri" pitchFamily="34" charset="-120"/>
              </a:rPr>
              <a:t>AFYAPLUS  HEALTH</a:t>
            </a:r>
            <a:endParaRPr lang="en-US" sz="1200" dirty="0"/>
          </a:p>
        </p:txBody>
      </p:sp>
      <p:sp>
        <p:nvSpPr>
          <p:cNvPr id="5" name="Text 0"/>
          <p:cNvSpPr>
            <a:spLocks noGrp="1"/>
          </p:cNvSpPr>
          <p:nvPr>
            <p:ph type="title" idx="100" hasCustomPrompt="1"/>
          </p:nvPr>
        </p:nvSpPr>
        <p:spPr>
          <a:xfrm>
            <a:off x="502920" y="1783080"/>
            <a:ext cx="3063240" cy="1371600"/>
          </a:xfrm>
          <a:prstGeom prst="rect">
            <a:avLst/>
          </a:prstGeom>
          <a:noFill/>
          <a:ln/>
        </p:spPr>
        <p:txBody>
          <a:bodyPr wrap="square" rtlCol="0" anchor="t"/>
          <a:lstStyle/>
          <a:p>
            <a:pPr marL="0" indent="0" algn="l">
              <a:buNone/>
            </a:pPr>
            <a:r>
              <a:rPr lang="en-US" sz="3300" b="1" dirty="0">
                <a:solidFill>
                  <a:srgbClr val="FFFFFF"/>
                </a:solidFill>
                <a:latin typeface="Trebuchet MS" pitchFamily="34" charset="0"/>
                <a:ea typeface="Trebuchet MS" pitchFamily="34" charset="-122"/>
                <a:cs typeface="Trebuchet MS" pitchFamily="34" charset="-120"/>
              </a:rPr>
              <a:t>AfyaPlus Triage Engine</a:t>
            </a:r>
            <a:endParaRPr lang="en-US" sz="3300" dirty="0"/>
          </a:p>
        </p:txBody>
      </p:sp>
      <p:sp>
        <p:nvSpPr>
          <p:cNvPr id="6" name="Text 4"/>
          <p:cNvSpPr/>
          <p:nvPr/>
        </p:nvSpPr>
        <p:spPr>
          <a:xfrm>
            <a:off x="502920" y="3063240"/>
            <a:ext cx="3108960" cy="914400"/>
          </a:xfrm>
          <a:prstGeom prst="rect">
            <a:avLst/>
          </a:prstGeom>
          <a:noFill/>
          <a:ln/>
        </p:spPr>
        <p:txBody>
          <a:bodyPr wrap="square" lIns="0" tIns="0" rIns="0" bIns="0" rtlCol="0" anchor="ctr"/>
          <a:lstStyle/>
          <a:p>
            <a:pPr marL="0" indent="0">
              <a:lnSpc>
                <a:spcPct val="105000"/>
              </a:lnSpc>
              <a:buNone/>
            </a:pPr>
            <a:r>
              <a:rPr lang="en-US" sz="1450" dirty="0">
                <a:solidFill>
                  <a:srgbClr val="E6FFFA"/>
                </a:solidFill>
                <a:latin typeface="Calibri" pitchFamily="34" charset="0"/>
                <a:ea typeface="Calibri" pitchFamily="34" charset="-122"/>
                <a:cs typeface="Calibri" pitchFamily="34" charset="-120"/>
              </a:rPr>
              <a:t>Week 1 Prototype — From Patient Messages to Safe Routing Decisions</a:t>
            </a:r>
            <a:endParaRPr lang="en-US" sz="1450" dirty="0"/>
          </a:p>
        </p:txBody>
      </p:sp>
      <p:sp>
        <p:nvSpPr>
          <p:cNvPr id="7" name="Shape 5"/>
          <p:cNvSpPr/>
          <p:nvPr/>
        </p:nvSpPr>
        <p:spPr>
          <a:xfrm>
            <a:off x="521208" y="4343400"/>
            <a:ext cx="1280160" cy="0"/>
          </a:xfrm>
          <a:prstGeom prst="line">
            <a:avLst/>
          </a:prstGeom>
          <a:noFill/>
          <a:ln w="19050">
            <a:solidFill>
              <a:srgbClr val="5EEAD4"/>
            </a:solidFill>
            <a:prstDash val="solid"/>
          </a:ln>
        </p:spPr>
        <p:txBody>
          <a:bodyPr/>
          <a:lstStyle/>
          <a:p>
            <a:endParaRPr lang="en-KE"/>
          </a:p>
        </p:txBody>
      </p:sp>
      <p:sp>
        <p:nvSpPr>
          <p:cNvPr id="8" name="Text 6"/>
          <p:cNvSpPr/>
          <p:nvPr/>
        </p:nvSpPr>
        <p:spPr>
          <a:xfrm>
            <a:off x="502920" y="4498848"/>
            <a:ext cx="3154680" cy="36576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SAMMY CHERONO   |   Applied AI Engineering Capstone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256032"/>
            <a:ext cx="8138160" cy="658368"/>
          </a:xfrm>
          <a:prstGeom prst="rect">
            <a:avLst/>
          </a:prstGeom>
          <a:noFill/>
          <a:ln/>
        </p:spPr>
        <p:txBody>
          <a:bodyPr wrap="square" rtlCol="0" anchor="ctr"/>
          <a:lstStyle/>
          <a:p>
            <a:pPr marL="0" indent="0" algn="l">
              <a:buNone/>
            </a:pPr>
            <a:r>
              <a:rPr lang="en-US" sz="2600" b="1" dirty="0">
                <a:solidFill>
                  <a:srgbClr val="134E4A"/>
                </a:solidFill>
                <a:latin typeface="Trebuchet MS" pitchFamily="34" charset="0"/>
                <a:ea typeface="Trebuchet MS" pitchFamily="34" charset="-122"/>
                <a:cs typeface="Trebuchet MS" pitchFamily="34" charset="-120"/>
              </a:rPr>
              <a:t>Why AfyaPlus Needs This</a:t>
            </a:r>
            <a:endParaRPr lang="en-US" sz="2600" dirty="0"/>
          </a:p>
        </p:txBody>
      </p:sp>
      <p:sp>
        <p:nvSpPr>
          <p:cNvPr id="3" name="Text 1"/>
          <p:cNvSpPr/>
          <p:nvPr/>
        </p:nvSpPr>
        <p:spPr>
          <a:xfrm>
            <a:off x="502920" y="1097280"/>
            <a:ext cx="4297680" cy="1874520"/>
          </a:xfrm>
          <a:prstGeom prst="rect">
            <a:avLst/>
          </a:prstGeom>
          <a:noFill/>
          <a:ln/>
        </p:spPr>
        <p:txBody>
          <a:bodyPr wrap="square" rtlCol="0" anchor="t"/>
          <a:lstStyle/>
          <a:p>
            <a:pPr marL="177800" indent="-1778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Patients write to us in everyday, casual language</a:t>
            </a:r>
            <a:endParaRPr lang="en-US" sz="1300" dirty="0"/>
          </a:p>
          <a:p>
            <a:pPr marL="177800" indent="-177800">
              <a:spcAft>
                <a:spcPts val="600"/>
              </a:spcAft>
              <a:buSzPct val="100000"/>
              <a:buChar char="•"/>
            </a:pPr>
            <a:r>
              <a:rPr lang="en-US" sz="1300" dirty="0">
                <a:solidFill>
                  <a:srgbClr val="374151"/>
                </a:solidFill>
                <a:latin typeface="Calibri" pitchFamily="34" charset="0"/>
                <a:ea typeface="Calibri" pitchFamily="34" charset="-122"/>
                <a:cs typeface="Calibri" pitchFamily="34" charset="-120"/>
              </a:rPr>
              <a:t>Our systems need clear, consistent data to route each patient correctly</a:t>
            </a:r>
            <a:endParaRPr lang="en-US" sz="1300" dirty="0"/>
          </a:p>
          <a:p>
            <a:pPr marL="0" indent="0">
              <a:spcAft>
                <a:spcPts val="600"/>
              </a:spcAft>
              <a:buNone/>
            </a:pPr>
            <a:r>
              <a:rPr lang="en-US" sz="1300" i="1" dirty="0">
                <a:solidFill>
                  <a:srgbClr val="0D9488"/>
                </a:solidFill>
                <a:latin typeface="Calibri" pitchFamily="34" charset="0"/>
                <a:ea typeface="Calibri" pitchFamily="34" charset="-122"/>
                <a:cs typeface="Calibri" pitchFamily="34" charset="-120"/>
              </a:rPr>
              <a:t>For example: “headache, swelling, blurry vision” from a pregnant patient can signal preeclampsia — we cannot miss it</a:t>
            </a:r>
            <a:endParaRPr lang="en-US" sz="1300" dirty="0"/>
          </a:p>
          <a:p>
            <a:pPr marL="0" indent="0">
              <a:buNone/>
            </a:pPr>
            <a:r>
              <a:rPr lang="en-US" sz="1300" b="1" dirty="0">
                <a:solidFill>
                  <a:srgbClr val="0F766E"/>
                </a:solidFill>
                <a:latin typeface="Calibri" pitchFamily="34" charset="0"/>
                <a:ea typeface="Calibri" pitchFamily="34" charset="-122"/>
                <a:cs typeface="Calibri" pitchFamily="34" charset="-120"/>
              </a:rPr>
              <a:t>Left on its own, the AI fails in three ways ↓</a:t>
            </a:r>
            <a:endParaRPr lang="en-US" sz="1300" dirty="0"/>
          </a:p>
        </p:txBody>
      </p:sp>
      <p:sp>
        <p:nvSpPr>
          <p:cNvPr id="4" name="Shape 2"/>
          <p:cNvSpPr/>
          <p:nvPr/>
        </p:nvSpPr>
        <p:spPr>
          <a:xfrm>
            <a:off x="4892040" y="1115568"/>
            <a:ext cx="3749040" cy="1554480"/>
          </a:xfrm>
          <a:prstGeom prst="roundRect">
            <a:avLst>
              <a:gd name="adj" fmla="val 5882"/>
            </a:avLst>
          </a:prstGeom>
          <a:solidFill>
            <a:srgbClr val="EA580C"/>
          </a:solidFill>
          <a:ln/>
          <a:effectLst>
            <a:outerShdw blurRad="101600" dist="25400" dir="5400000" algn="bl" rotWithShape="0">
              <a:srgbClr val="334155">
                <a:alpha val="12000"/>
              </a:srgbClr>
            </a:outerShdw>
          </a:effectLst>
        </p:spPr>
        <p:txBody>
          <a:bodyPr/>
          <a:lstStyle/>
          <a:p>
            <a:endParaRPr lang="en-KE"/>
          </a:p>
        </p:txBody>
      </p:sp>
      <p:sp>
        <p:nvSpPr>
          <p:cNvPr id="5" name="Text 3"/>
          <p:cNvSpPr/>
          <p:nvPr/>
        </p:nvSpPr>
        <p:spPr>
          <a:xfrm>
            <a:off x="5120640" y="1298448"/>
            <a:ext cx="3291840" cy="274320"/>
          </a:xfrm>
          <a:prstGeom prst="rect">
            <a:avLst/>
          </a:prstGeom>
          <a:noFill/>
          <a:ln/>
        </p:spPr>
        <p:txBody>
          <a:bodyPr wrap="square" lIns="0" tIns="0" rIns="0" bIns="0" rtlCol="0" anchor="ctr"/>
          <a:lstStyle/>
          <a:p>
            <a:pPr marL="0" indent="0">
              <a:buNone/>
            </a:pPr>
            <a:r>
              <a:rPr lang="en-US" sz="1100" b="1" kern="0" spc="200" dirty="0">
                <a:solidFill>
                  <a:srgbClr val="FFE4D6"/>
                </a:solidFill>
                <a:latin typeface="Calibri" pitchFamily="34" charset="0"/>
                <a:ea typeface="Calibri" pitchFamily="34" charset="-122"/>
                <a:cs typeface="Calibri" pitchFamily="34" charset="-120"/>
              </a:rPr>
              <a:t>THE BUSINESS RISK</a:t>
            </a:r>
            <a:endParaRPr lang="en-US" sz="1100" dirty="0"/>
          </a:p>
        </p:txBody>
      </p:sp>
      <p:sp>
        <p:nvSpPr>
          <p:cNvPr id="6" name="Text 4"/>
          <p:cNvSpPr/>
          <p:nvPr/>
        </p:nvSpPr>
        <p:spPr>
          <a:xfrm>
            <a:off x="5120640" y="1572768"/>
            <a:ext cx="3291840" cy="960120"/>
          </a:xfrm>
          <a:prstGeom prst="rect">
            <a:avLst/>
          </a:prstGeom>
          <a:noFill/>
          <a:ln/>
        </p:spPr>
        <p:txBody>
          <a:bodyPr wrap="square" lIns="0" tIns="0" rIns="0" bIns="0" rtlCol="0" anchor="t"/>
          <a:lstStyle/>
          <a:p>
            <a:pPr marL="0" indent="0">
              <a:lnSpc>
                <a:spcPct val="103000"/>
              </a:lnSpc>
              <a:buNone/>
            </a:pPr>
            <a:r>
              <a:rPr lang="en-US" sz="1550" b="1" dirty="0">
                <a:solidFill>
                  <a:srgbClr val="FFFFFF"/>
                </a:solidFill>
                <a:latin typeface="Trebuchet MS" pitchFamily="34" charset="0"/>
                <a:ea typeface="Trebuchet MS" pitchFamily="34" charset="-122"/>
                <a:cs typeface="Trebuchet MS" pitchFamily="34" charset="-120"/>
              </a:rPr>
              <a:t>Send a patient to the wrong place, and you risk their safety — and system downtime</a:t>
            </a:r>
            <a:endParaRPr lang="en-US" sz="1550" dirty="0"/>
          </a:p>
        </p:txBody>
      </p:sp>
      <p:sp>
        <p:nvSpPr>
          <p:cNvPr id="7" name="Shape 5"/>
          <p:cNvSpPr/>
          <p:nvPr/>
        </p:nvSpPr>
        <p:spPr>
          <a:xfrm>
            <a:off x="502920" y="3108960"/>
            <a:ext cx="2651760" cy="1691640"/>
          </a:xfrm>
          <a:prstGeom prst="roundRect">
            <a:avLst>
              <a:gd name="adj" fmla="val 4324"/>
            </a:avLst>
          </a:prstGeom>
          <a:solidFill>
            <a:srgbClr val="F0FDFA"/>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8" name="Shape 6"/>
          <p:cNvSpPr/>
          <p:nvPr/>
        </p:nvSpPr>
        <p:spPr>
          <a:xfrm>
            <a:off x="704088" y="3328416"/>
            <a:ext cx="457200" cy="457200"/>
          </a:xfrm>
          <a:prstGeom prst="ellipse">
            <a:avLst/>
          </a:prstGeom>
          <a:solidFill>
            <a:srgbClr val="0F766E"/>
          </a:solidFill>
          <a:ln/>
        </p:spPr>
        <p:txBody>
          <a:bodyPr/>
          <a:lstStyle/>
          <a:p>
            <a:endParaRPr lang="en-KE"/>
          </a:p>
        </p:txBody>
      </p:sp>
      <p:sp>
        <p:nvSpPr>
          <p:cNvPr id="9" name="Text 7"/>
          <p:cNvSpPr/>
          <p:nvPr/>
        </p:nvSpPr>
        <p:spPr>
          <a:xfrm>
            <a:off x="704088" y="331927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1</a:t>
            </a:r>
            <a:endParaRPr lang="en-US" sz="1500" dirty="0"/>
          </a:p>
        </p:txBody>
      </p:sp>
      <p:sp>
        <p:nvSpPr>
          <p:cNvPr id="10" name="Text 8"/>
          <p:cNvSpPr/>
          <p:nvPr/>
        </p:nvSpPr>
        <p:spPr>
          <a:xfrm>
            <a:off x="1280160" y="3328416"/>
            <a:ext cx="1737360" cy="457200"/>
          </a:xfrm>
          <a:prstGeom prst="rect">
            <a:avLst/>
          </a:prstGeom>
          <a:noFill/>
          <a:ln/>
        </p:spPr>
        <p:txBody>
          <a:bodyPr wrap="square" lIns="0" tIns="0" rIns="0" bIns="0" rtlCol="0" anchor="ctr"/>
          <a:lstStyle/>
          <a:p>
            <a:pPr marL="0" indent="0">
              <a:buNone/>
            </a:pPr>
            <a:r>
              <a:rPr lang="en-US" sz="1450" b="1" dirty="0">
                <a:solidFill>
                  <a:srgbClr val="134E4A"/>
                </a:solidFill>
                <a:latin typeface="Trebuchet MS" pitchFamily="34" charset="0"/>
                <a:ea typeface="Trebuchet MS" pitchFamily="34" charset="-122"/>
                <a:cs typeface="Trebuchet MS" pitchFamily="34" charset="-120"/>
              </a:rPr>
              <a:t>Chatty, not usable</a:t>
            </a:r>
            <a:endParaRPr lang="en-US" sz="1450" dirty="0"/>
          </a:p>
        </p:txBody>
      </p:sp>
      <p:sp>
        <p:nvSpPr>
          <p:cNvPr id="11" name="Text 9"/>
          <p:cNvSpPr/>
          <p:nvPr/>
        </p:nvSpPr>
        <p:spPr>
          <a:xfrm>
            <a:off x="722376" y="3950208"/>
            <a:ext cx="2231136" cy="822960"/>
          </a:xfrm>
          <a:prstGeom prst="rect">
            <a:avLst/>
          </a:prstGeom>
          <a:noFill/>
          <a:ln/>
        </p:spPr>
        <p:txBody>
          <a:bodyPr wrap="square" lIns="0" tIns="0" rIns="0" bIns="0" rtlCol="0" anchor="t"/>
          <a:lstStyle/>
          <a:p>
            <a:pPr marL="0" indent="0">
              <a:lnSpc>
                <a:spcPct val="103000"/>
              </a:lnSpc>
              <a:buNone/>
            </a:pPr>
            <a:r>
              <a:rPr lang="en-US" sz="1200" dirty="0">
                <a:solidFill>
                  <a:srgbClr val="374151"/>
                </a:solidFill>
                <a:latin typeface="Calibri" pitchFamily="34" charset="0"/>
                <a:ea typeface="Calibri" pitchFamily="34" charset="-122"/>
                <a:cs typeface="Calibri" pitchFamily="34" charset="-120"/>
              </a:rPr>
              <a:t>The AI replies like a chatbot instead of giving data our systems can use.</a:t>
            </a:r>
            <a:endParaRPr lang="en-US" sz="1200" dirty="0"/>
          </a:p>
        </p:txBody>
      </p:sp>
      <p:sp>
        <p:nvSpPr>
          <p:cNvPr id="12" name="Shape 10"/>
          <p:cNvSpPr/>
          <p:nvPr/>
        </p:nvSpPr>
        <p:spPr>
          <a:xfrm>
            <a:off x="3246120" y="3108960"/>
            <a:ext cx="2651760" cy="1691640"/>
          </a:xfrm>
          <a:prstGeom prst="roundRect">
            <a:avLst>
              <a:gd name="adj" fmla="val 4324"/>
            </a:avLst>
          </a:prstGeom>
          <a:solidFill>
            <a:srgbClr val="F0FDFA"/>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13" name="Shape 11"/>
          <p:cNvSpPr/>
          <p:nvPr/>
        </p:nvSpPr>
        <p:spPr>
          <a:xfrm>
            <a:off x="3447288" y="3328416"/>
            <a:ext cx="457200" cy="457200"/>
          </a:xfrm>
          <a:prstGeom prst="ellipse">
            <a:avLst/>
          </a:prstGeom>
          <a:solidFill>
            <a:srgbClr val="0F766E"/>
          </a:solidFill>
          <a:ln/>
        </p:spPr>
        <p:txBody>
          <a:bodyPr/>
          <a:lstStyle/>
          <a:p>
            <a:endParaRPr lang="en-KE"/>
          </a:p>
        </p:txBody>
      </p:sp>
      <p:sp>
        <p:nvSpPr>
          <p:cNvPr id="14" name="Text 12"/>
          <p:cNvSpPr/>
          <p:nvPr/>
        </p:nvSpPr>
        <p:spPr>
          <a:xfrm>
            <a:off x="3447288" y="331927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2</a:t>
            </a:r>
            <a:endParaRPr lang="en-US" sz="1500" dirty="0"/>
          </a:p>
        </p:txBody>
      </p:sp>
      <p:sp>
        <p:nvSpPr>
          <p:cNvPr id="15" name="Text 13"/>
          <p:cNvSpPr/>
          <p:nvPr/>
        </p:nvSpPr>
        <p:spPr>
          <a:xfrm>
            <a:off x="4023360" y="3328416"/>
            <a:ext cx="1737360" cy="457200"/>
          </a:xfrm>
          <a:prstGeom prst="rect">
            <a:avLst/>
          </a:prstGeom>
          <a:noFill/>
          <a:ln/>
        </p:spPr>
        <p:txBody>
          <a:bodyPr wrap="square" lIns="0" tIns="0" rIns="0" bIns="0" rtlCol="0" anchor="ctr"/>
          <a:lstStyle/>
          <a:p>
            <a:pPr marL="0" indent="0">
              <a:buNone/>
            </a:pPr>
            <a:r>
              <a:rPr lang="en-US" sz="1450" b="1" dirty="0">
                <a:solidFill>
                  <a:srgbClr val="134E4A"/>
                </a:solidFill>
                <a:latin typeface="Trebuchet MS" pitchFamily="34" charset="0"/>
                <a:ea typeface="Trebuchet MS" pitchFamily="34" charset="-122"/>
                <a:cs typeface="Trebuchet MS" pitchFamily="34" charset="-120"/>
              </a:rPr>
              <a:t>Made-up symptoms</a:t>
            </a:r>
            <a:endParaRPr lang="en-US" sz="1450" dirty="0"/>
          </a:p>
        </p:txBody>
      </p:sp>
      <p:sp>
        <p:nvSpPr>
          <p:cNvPr id="16" name="Text 14"/>
          <p:cNvSpPr/>
          <p:nvPr/>
        </p:nvSpPr>
        <p:spPr>
          <a:xfrm>
            <a:off x="3465576" y="3950208"/>
            <a:ext cx="2231136" cy="822960"/>
          </a:xfrm>
          <a:prstGeom prst="rect">
            <a:avLst/>
          </a:prstGeom>
          <a:noFill/>
          <a:ln/>
        </p:spPr>
        <p:txBody>
          <a:bodyPr wrap="square" lIns="0" tIns="0" rIns="0" bIns="0" rtlCol="0" anchor="t"/>
          <a:lstStyle/>
          <a:p>
            <a:pPr marL="0" indent="0">
              <a:lnSpc>
                <a:spcPct val="103000"/>
              </a:lnSpc>
              <a:buNone/>
            </a:pPr>
            <a:r>
              <a:rPr lang="en-US" sz="1200" dirty="0">
                <a:solidFill>
                  <a:srgbClr val="374151"/>
                </a:solidFill>
                <a:latin typeface="Calibri" pitchFamily="34" charset="0"/>
                <a:ea typeface="Calibri" pitchFamily="34" charset="-122"/>
                <a:cs typeface="Calibri" pitchFamily="34" charset="-120"/>
              </a:rPr>
              <a:t>The AI adds symptoms or diagnoses the patient never mentioned.</a:t>
            </a:r>
            <a:endParaRPr lang="en-US" sz="1200" dirty="0"/>
          </a:p>
        </p:txBody>
      </p:sp>
      <p:sp>
        <p:nvSpPr>
          <p:cNvPr id="17" name="Shape 15"/>
          <p:cNvSpPr/>
          <p:nvPr/>
        </p:nvSpPr>
        <p:spPr>
          <a:xfrm>
            <a:off x="5989320" y="3108960"/>
            <a:ext cx="2651760" cy="1691640"/>
          </a:xfrm>
          <a:prstGeom prst="roundRect">
            <a:avLst>
              <a:gd name="adj" fmla="val 4324"/>
            </a:avLst>
          </a:prstGeom>
          <a:solidFill>
            <a:srgbClr val="F0FDFA"/>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18" name="Shape 16"/>
          <p:cNvSpPr/>
          <p:nvPr/>
        </p:nvSpPr>
        <p:spPr>
          <a:xfrm>
            <a:off x="6190488" y="3328416"/>
            <a:ext cx="457200" cy="457200"/>
          </a:xfrm>
          <a:prstGeom prst="ellipse">
            <a:avLst/>
          </a:prstGeom>
          <a:solidFill>
            <a:srgbClr val="0F766E"/>
          </a:solidFill>
          <a:ln/>
        </p:spPr>
        <p:txBody>
          <a:bodyPr/>
          <a:lstStyle/>
          <a:p>
            <a:endParaRPr lang="en-KE"/>
          </a:p>
        </p:txBody>
      </p:sp>
      <p:sp>
        <p:nvSpPr>
          <p:cNvPr id="19" name="Text 17"/>
          <p:cNvSpPr/>
          <p:nvPr/>
        </p:nvSpPr>
        <p:spPr>
          <a:xfrm>
            <a:off x="6190488" y="331927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3</a:t>
            </a:r>
            <a:endParaRPr lang="en-US" sz="1500" dirty="0"/>
          </a:p>
        </p:txBody>
      </p:sp>
      <p:sp>
        <p:nvSpPr>
          <p:cNvPr id="20" name="Text 18"/>
          <p:cNvSpPr/>
          <p:nvPr/>
        </p:nvSpPr>
        <p:spPr>
          <a:xfrm>
            <a:off x="6766560" y="3328416"/>
            <a:ext cx="1737360" cy="457200"/>
          </a:xfrm>
          <a:prstGeom prst="rect">
            <a:avLst/>
          </a:prstGeom>
          <a:noFill/>
          <a:ln/>
        </p:spPr>
        <p:txBody>
          <a:bodyPr wrap="square" lIns="0" tIns="0" rIns="0" bIns="0" rtlCol="0" anchor="ctr"/>
          <a:lstStyle/>
          <a:p>
            <a:pPr marL="0" indent="0">
              <a:buNone/>
            </a:pPr>
            <a:r>
              <a:rPr lang="en-US" sz="1450" b="1" dirty="0">
                <a:solidFill>
                  <a:srgbClr val="134E4A"/>
                </a:solidFill>
                <a:latin typeface="Trebuchet MS" pitchFamily="34" charset="0"/>
                <a:ea typeface="Trebuchet MS" pitchFamily="34" charset="-122"/>
                <a:cs typeface="Trebuchet MS" pitchFamily="34" charset="-120"/>
              </a:rPr>
              <a:t>Fails when offline</a:t>
            </a:r>
            <a:endParaRPr lang="en-US" sz="1450" dirty="0"/>
          </a:p>
        </p:txBody>
      </p:sp>
      <p:sp>
        <p:nvSpPr>
          <p:cNvPr id="21" name="Text 19"/>
          <p:cNvSpPr/>
          <p:nvPr/>
        </p:nvSpPr>
        <p:spPr>
          <a:xfrm>
            <a:off x="6208776" y="3950208"/>
            <a:ext cx="2231136" cy="822960"/>
          </a:xfrm>
          <a:prstGeom prst="rect">
            <a:avLst/>
          </a:prstGeom>
          <a:noFill/>
          <a:ln/>
        </p:spPr>
        <p:txBody>
          <a:bodyPr wrap="square" lIns="0" tIns="0" rIns="0" bIns="0" rtlCol="0" anchor="t"/>
          <a:lstStyle/>
          <a:p>
            <a:pPr marL="0" indent="0">
              <a:lnSpc>
                <a:spcPct val="103000"/>
              </a:lnSpc>
              <a:buNone/>
            </a:pPr>
            <a:r>
              <a:rPr lang="en-US" sz="1200" dirty="0">
                <a:solidFill>
                  <a:srgbClr val="374151"/>
                </a:solidFill>
                <a:latin typeface="Calibri" pitchFamily="34" charset="0"/>
                <a:ea typeface="Calibri" pitchFamily="34" charset="-122"/>
                <a:cs typeface="Calibri" pitchFamily="34" charset="-120"/>
              </a:rPr>
              <a:t>When the internet drops, the whole system freezes instead of carrying on.</a:t>
            </a:r>
            <a:endParaRPr lang="en-US" sz="1200" dirty="0"/>
          </a:p>
        </p:txBody>
      </p:sp>
      <p:sp>
        <p:nvSpPr>
          <p:cNvPr id="25" name="Slide Number Placeholder 0"/>
          <p:cNvSpPr>
            <a:spLocks noGrp="1"/>
          </p:cNvSpPr>
          <p:nvPr>
            <p:ph type="sldNum" sz="quarter" idx="4294967295"/>
          </p:nvPr>
        </p:nvSpPr>
        <p:spPr>
          <a:xfrm>
            <a:off x="8366760" y="4828032"/>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256032"/>
            <a:ext cx="8138160" cy="658368"/>
          </a:xfrm>
          <a:prstGeom prst="rect">
            <a:avLst/>
          </a:prstGeom>
          <a:noFill/>
          <a:ln/>
        </p:spPr>
        <p:txBody>
          <a:bodyPr wrap="square" rtlCol="0" anchor="ctr"/>
          <a:lstStyle/>
          <a:p>
            <a:pPr marL="0" indent="0" algn="l">
              <a:buNone/>
            </a:pPr>
            <a:r>
              <a:rPr lang="en-US" sz="2600" b="1" dirty="0">
                <a:solidFill>
                  <a:srgbClr val="134E4A"/>
                </a:solidFill>
                <a:latin typeface="Trebuchet MS" pitchFamily="34" charset="0"/>
                <a:ea typeface="Trebuchet MS" pitchFamily="34" charset="-122"/>
                <a:cs typeface="Trebuchet MS" pitchFamily="34" charset="-120"/>
              </a:rPr>
              <a:t>What We Built</a:t>
            </a:r>
            <a:endParaRPr lang="en-US" sz="2600" dirty="0"/>
          </a:p>
        </p:txBody>
      </p:sp>
      <p:sp>
        <p:nvSpPr>
          <p:cNvPr id="3" name="Text 1"/>
          <p:cNvSpPr/>
          <p:nvPr/>
        </p:nvSpPr>
        <p:spPr>
          <a:xfrm>
            <a:off x="502920" y="932688"/>
            <a:ext cx="8138160" cy="320040"/>
          </a:xfrm>
          <a:prstGeom prst="rect">
            <a:avLst/>
          </a:prstGeom>
          <a:noFill/>
          <a:ln/>
        </p:spPr>
        <p:txBody>
          <a:bodyPr wrap="square" lIns="0" tIns="0" rIns="0" bIns="0" rtlCol="0" anchor="ctr"/>
          <a:lstStyle/>
          <a:p>
            <a:pPr marL="0" indent="0">
              <a:buNone/>
            </a:pPr>
            <a:r>
              <a:rPr lang="en-US" sz="1300" i="1" dirty="0">
                <a:solidFill>
                  <a:srgbClr val="0F766E"/>
                </a:solidFill>
                <a:latin typeface="Calibri" pitchFamily="34" charset="0"/>
                <a:ea typeface="Calibri" pitchFamily="34" charset="-122"/>
                <a:cs typeface="Calibri" pitchFamily="34" charset="-120"/>
              </a:rPr>
              <a:t>One patient message in → one structured decision out, every single time.</a:t>
            </a:r>
            <a:endParaRPr lang="en-US" sz="1300" dirty="0"/>
          </a:p>
        </p:txBody>
      </p:sp>
      <p:sp>
        <p:nvSpPr>
          <p:cNvPr id="4" name="Shape 2"/>
          <p:cNvSpPr/>
          <p:nvPr/>
        </p:nvSpPr>
        <p:spPr>
          <a:xfrm>
            <a:off x="502920" y="1371600"/>
            <a:ext cx="1783080" cy="914400"/>
          </a:xfrm>
          <a:prstGeom prst="roundRect">
            <a:avLst>
              <a:gd name="adj" fmla="val 9000"/>
            </a:avLst>
          </a:prstGeom>
          <a:solidFill>
            <a:srgbClr val="F0FDFA"/>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5" name="Text 3"/>
          <p:cNvSpPr/>
          <p:nvPr/>
        </p:nvSpPr>
        <p:spPr>
          <a:xfrm>
            <a:off x="502920" y="1371600"/>
            <a:ext cx="1783080" cy="914400"/>
          </a:xfrm>
          <a:prstGeom prst="rect">
            <a:avLst/>
          </a:prstGeom>
          <a:noFill/>
          <a:ln/>
        </p:spPr>
        <p:txBody>
          <a:bodyPr wrap="square" lIns="0" tIns="0" rIns="0" bIns="0" rtlCol="0" anchor="ctr"/>
          <a:lstStyle/>
          <a:p>
            <a:pPr marL="0" indent="0" algn="ctr">
              <a:buNone/>
            </a:pPr>
            <a:r>
              <a:rPr lang="en-US" sz="1350" b="1" dirty="0">
                <a:solidFill>
                  <a:srgbClr val="134E4A"/>
                </a:solidFill>
                <a:latin typeface="Trebuchet MS" pitchFamily="34" charset="0"/>
                <a:ea typeface="Trebuchet MS" pitchFamily="34" charset="-122"/>
                <a:cs typeface="Trebuchet MS" pitchFamily="34" charset="-120"/>
              </a:rPr>
              <a:t>Patient</a:t>
            </a:r>
            <a:endParaRPr lang="en-US" sz="1350" dirty="0"/>
          </a:p>
          <a:p>
            <a:pPr marL="0" indent="0" algn="ctr">
              <a:buNone/>
            </a:pPr>
            <a:r>
              <a:rPr lang="en-US" sz="1350" b="1" dirty="0">
                <a:solidFill>
                  <a:srgbClr val="134E4A"/>
                </a:solidFill>
                <a:latin typeface="Trebuchet MS" pitchFamily="34" charset="0"/>
                <a:ea typeface="Trebuchet MS" pitchFamily="34" charset="-122"/>
                <a:cs typeface="Trebuchet MS" pitchFamily="34" charset="-120"/>
              </a:rPr>
              <a:t>Message</a:t>
            </a:r>
            <a:endParaRPr lang="en-US" sz="1350" dirty="0"/>
          </a:p>
        </p:txBody>
      </p:sp>
      <p:sp>
        <p:nvSpPr>
          <p:cNvPr id="6" name="Text 4"/>
          <p:cNvSpPr/>
          <p:nvPr/>
        </p:nvSpPr>
        <p:spPr>
          <a:xfrm>
            <a:off x="2286000" y="1371600"/>
            <a:ext cx="384048" cy="914400"/>
          </a:xfrm>
          <a:prstGeom prst="rect">
            <a:avLst/>
          </a:prstGeom>
          <a:noFill/>
          <a:ln/>
        </p:spPr>
        <p:txBody>
          <a:bodyPr wrap="square" lIns="0" tIns="0" rIns="0" bIns="0" rtlCol="0" anchor="ctr"/>
          <a:lstStyle/>
          <a:p>
            <a:pPr marL="0" indent="0" algn="ctr">
              <a:buNone/>
            </a:pPr>
            <a:r>
              <a:rPr lang="en-US" sz="2200" b="1" dirty="0">
                <a:solidFill>
                  <a:srgbClr val="0D9488"/>
                </a:solidFill>
                <a:latin typeface="Trebuchet MS" pitchFamily="34" charset="0"/>
                <a:ea typeface="Trebuchet MS" pitchFamily="34" charset="-122"/>
                <a:cs typeface="Trebuchet MS" pitchFamily="34" charset="-120"/>
              </a:rPr>
              <a:t>→</a:t>
            </a:r>
            <a:endParaRPr lang="en-US" sz="2200" dirty="0"/>
          </a:p>
        </p:txBody>
      </p:sp>
      <p:sp>
        <p:nvSpPr>
          <p:cNvPr id="7" name="Shape 5"/>
          <p:cNvSpPr/>
          <p:nvPr/>
        </p:nvSpPr>
        <p:spPr>
          <a:xfrm>
            <a:off x="2670048" y="1371600"/>
            <a:ext cx="1783080" cy="914400"/>
          </a:xfrm>
          <a:prstGeom prst="roundRect">
            <a:avLst>
              <a:gd name="adj" fmla="val 9000"/>
            </a:avLst>
          </a:prstGeom>
          <a:solidFill>
            <a:srgbClr val="0F766E"/>
          </a:solidFill>
          <a:ln/>
          <a:effectLst>
            <a:outerShdw blurRad="101600" dist="25400" dir="5400000" algn="bl" rotWithShape="0">
              <a:srgbClr val="334155">
                <a:alpha val="12000"/>
              </a:srgbClr>
            </a:outerShdw>
          </a:effectLst>
        </p:spPr>
        <p:txBody>
          <a:bodyPr/>
          <a:lstStyle/>
          <a:p>
            <a:endParaRPr lang="en-KE"/>
          </a:p>
        </p:txBody>
      </p:sp>
      <p:sp>
        <p:nvSpPr>
          <p:cNvPr id="8" name="Text 6"/>
          <p:cNvSpPr/>
          <p:nvPr/>
        </p:nvSpPr>
        <p:spPr>
          <a:xfrm>
            <a:off x="2670048" y="1371600"/>
            <a:ext cx="1783080" cy="914400"/>
          </a:xfrm>
          <a:prstGeom prst="rect">
            <a:avLst/>
          </a:prstGeom>
          <a:noFill/>
          <a:ln/>
        </p:spPr>
        <p:txBody>
          <a:bodyPr wrap="square" lIns="0" tIns="0" rIns="0" bIns="0" rtlCol="0" anchor="ctr"/>
          <a:lstStyle/>
          <a:p>
            <a:pPr marL="0" indent="0" algn="ctr">
              <a:buNone/>
            </a:pPr>
            <a:r>
              <a:rPr lang="en-US" sz="1350" b="1" dirty="0">
                <a:solidFill>
                  <a:srgbClr val="FFFFFF"/>
                </a:solidFill>
                <a:latin typeface="Trebuchet MS" pitchFamily="34" charset="0"/>
                <a:ea typeface="Trebuchet MS" pitchFamily="34" charset="-122"/>
                <a:cs typeface="Trebuchet MS" pitchFamily="34" charset="-120"/>
              </a:rPr>
              <a:t>AfyaPlus</a:t>
            </a:r>
            <a:endParaRPr lang="en-US" sz="1350" dirty="0"/>
          </a:p>
          <a:p>
            <a:pPr marL="0" indent="0" algn="ctr">
              <a:buNone/>
            </a:pPr>
            <a:r>
              <a:rPr lang="en-US" sz="1350" b="1" dirty="0">
                <a:solidFill>
                  <a:srgbClr val="FFFFFF"/>
                </a:solidFill>
                <a:latin typeface="Trebuchet MS" pitchFamily="34" charset="0"/>
                <a:ea typeface="Trebuchet MS" pitchFamily="34" charset="-122"/>
                <a:cs typeface="Trebuchet MS" pitchFamily="34" charset="-120"/>
              </a:rPr>
              <a:t>Triage Engine</a:t>
            </a:r>
            <a:endParaRPr lang="en-US" sz="1350" dirty="0"/>
          </a:p>
        </p:txBody>
      </p:sp>
      <p:sp>
        <p:nvSpPr>
          <p:cNvPr id="9" name="Text 7"/>
          <p:cNvSpPr/>
          <p:nvPr/>
        </p:nvSpPr>
        <p:spPr>
          <a:xfrm>
            <a:off x="4453128" y="1371600"/>
            <a:ext cx="384048" cy="914400"/>
          </a:xfrm>
          <a:prstGeom prst="rect">
            <a:avLst/>
          </a:prstGeom>
          <a:noFill/>
          <a:ln/>
        </p:spPr>
        <p:txBody>
          <a:bodyPr wrap="square" lIns="0" tIns="0" rIns="0" bIns="0" rtlCol="0" anchor="ctr"/>
          <a:lstStyle/>
          <a:p>
            <a:pPr marL="0" indent="0" algn="ctr">
              <a:buNone/>
            </a:pPr>
            <a:r>
              <a:rPr lang="en-US" sz="2200" b="1" dirty="0">
                <a:solidFill>
                  <a:srgbClr val="0D9488"/>
                </a:solidFill>
                <a:latin typeface="Trebuchet MS" pitchFamily="34" charset="0"/>
                <a:ea typeface="Trebuchet MS" pitchFamily="34" charset="-122"/>
                <a:cs typeface="Trebuchet MS" pitchFamily="34" charset="-120"/>
              </a:rPr>
              <a:t>→</a:t>
            </a:r>
            <a:endParaRPr lang="en-US" sz="2200" dirty="0"/>
          </a:p>
        </p:txBody>
      </p:sp>
      <p:sp>
        <p:nvSpPr>
          <p:cNvPr id="10" name="Shape 8"/>
          <p:cNvSpPr/>
          <p:nvPr/>
        </p:nvSpPr>
        <p:spPr>
          <a:xfrm>
            <a:off x="4837176" y="1371600"/>
            <a:ext cx="1783080" cy="914400"/>
          </a:xfrm>
          <a:prstGeom prst="roundRect">
            <a:avLst>
              <a:gd name="adj" fmla="val 9000"/>
            </a:avLst>
          </a:prstGeom>
          <a:solidFill>
            <a:srgbClr val="F0FDFA"/>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11" name="Text 9"/>
          <p:cNvSpPr/>
          <p:nvPr/>
        </p:nvSpPr>
        <p:spPr>
          <a:xfrm>
            <a:off x="4837176" y="1371600"/>
            <a:ext cx="1783080" cy="914400"/>
          </a:xfrm>
          <a:prstGeom prst="rect">
            <a:avLst/>
          </a:prstGeom>
          <a:noFill/>
          <a:ln/>
        </p:spPr>
        <p:txBody>
          <a:bodyPr wrap="square" lIns="0" tIns="0" rIns="0" bIns="0" rtlCol="0" anchor="ctr"/>
          <a:lstStyle/>
          <a:p>
            <a:pPr marL="0" indent="0" algn="ctr">
              <a:buNone/>
            </a:pPr>
            <a:r>
              <a:rPr lang="en-US" sz="1350" b="1" dirty="0">
                <a:solidFill>
                  <a:srgbClr val="134E4A"/>
                </a:solidFill>
                <a:latin typeface="Trebuchet MS" pitchFamily="34" charset="0"/>
                <a:ea typeface="Trebuchet MS" pitchFamily="34" charset="-122"/>
                <a:cs typeface="Trebuchet MS" pitchFamily="34" charset="-120"/>
              </a:rPr>
              <a:t>Structured</a:t>
            </a:r>
            <a:endParaRPr lang="en-US" sz="1350" dirty="0"/>
          </a:p>
          <a:p>
            <a:pPr marL="0" indent="0" algn="ctr">
              <a:buNone/>
            </a:pPr>
            <a:r>
              <a:rPr lang="en-US" sz="1350" b="1" dirty="0">
                <a:solidFill>
                  <a:srgbClr val="134E4A"/>
                </a:solidFill>
                <a:latin typeface="Trebuchet MS" pitchFamily="34" charset="0"/>
                <a:ea typeface="Trebuchet MS" pitchFamily="34" charset="-122"/>
                <a:cs typeface="Trebuchet MS" pitchFamily="34" charset="-120"/>
              </a:rPr>
              <a:t>Output</a:t>
            </a:r>
            <a:endParaRPr lang="en-US" sz="1350" dirty="0"/>
          </a:p>
        </p:txBody>
      </p:sp>
      <p:sp>
        <p:nvSpPr>
          <p:cNvPr id="12" name="Text 10"/>
          <p:cNvSpPr/>
          <p:nvPr/>
        </p:nvSpPr>
        <p:spPr>
          <a:xfrm>
            <a:off x="6620256" y="1371600"/>
            <a:ext cx="384048" cy="914400"/>
          </a:xfrm>
          <a:prstGeom prst="rect">
            <a:avLst/>
          </a:prstGeom>
          <a:noFill/>
          <a:ln/>
        </p:spPr>
        <p:txBody>
          <a:bodyPr wrap="square" lIns="0" tIns="0" rIns="0" bIns="0" rtlCol="0" anchor="ctr"/>
          <a:lstStyle/>
          <a:p>
            <a:pPr marL="0" indent="0" algn="ctr">
              <a:buNone/>
            </a:pPr>
            <a:r>
              <a:rPr lang="en-US" sz="2200" b="1" dirty="0">
                <a:solidFill>
                  <a:srgbClr val="0D9488"/>
                </a:solidFill>
                <a:latin typeface="Trebuchet MS" pitchFamily="34" charset="0"/>
                <a:ea typeface="Trebuchet MS" pitchFamily="34" charset="-122"/>
                <a:cs typeface="Trebuchet MS" pitchFamily="34" charset="-120"/>
              </a:rPr>
              <a:t>→</a:t>
            </a:r>
            <a:endParaRPr lang="en-US" sz="2200" dirty="0"/>
          </a:p>
        </p:txBody>
      </p:sp>
      <p:sp>
        <p:nvSpPr>
          <p:cNvPr id="13" name="Shape 11"/>
          <p:cNvSpPr/>
          <p:nvPr/>
        </p:nvSpPr>
        <p:spPr>
          <a:xfrm>
            <a:off x="7004304" y="1371600"/>
            <a:ext cx="1783080" cy="914400"/>
          </a:xfrm>
          <a:prstGeom prst="roundRect">
            <a:avLst>
              <a:gd name="adj" fmla="val 9000"/>
            </a:avLst>
          </a:prstGeom>
          <a:solidFill>
            <a:srgbClr val="0E9F6E"/>
          </a:solidFill>
          <a:ln/>
          <a:effectLst>
            <a:outerShdw blurRad="101600" dist="25400" dir="5400000" algn="bl" rotWithShape="0">
              <a:srgbClr val="334155">
                <a:alpha val="12000"/>
              </a:srgbClr>
            </a:outerShdw>
          </a:effectLst>
        </p:spPr>
        <p:txBody>
          <a:bodyPr/>
          <a:lstStyle/>
          <a:p>
            <a:endParaRPr lang="en-KE"/>
          </a:p>
        </p:txBody>
      </p:sp>
      <p:sp>
        <p:nvSpPr>
          <p:cNvPr id="14" name="Text 12"/>
          <p:cNvSpPr/>
          <p:nvPr/>
        </p:nvSpPr>
        <p:spPr>
          <a:xfrm>
            <a:off x="7004304" y="1371600"/>
            <a:ext cx="1783080" cy="914400"/>
          </a:xfrm>
          <a:prstGeom prst="rect">
            <a:avLst/>
          </a:prstGeom>
          <a:noFill/>
          <a:ln/>
        </p:spPr>
        <p:txBody>
          <a:bodyPr wrap="square" lIns="0" tIns="0" rIns="0" bIns="0" rtlCol="0" anchor="ctr"/>
          <a:lstStyle/>
          <a:p>
            <a:pPr marL="0" indent="0" algn="ctr">
              <a:buNone/>
            </a:pPr>
            <a:r>
              <a:rPr lang="en-US" sz="1350" b="1" dirty="0">
                <a:solidFill>
                  <a:srgbClr val="FFFFFF"/>
                </a:solidFill>
                <a:latin typeface="Trebuchet MS" pitchFamily="34" charset="0"/>
                <a:ea typeface="Trebuchet MS" pitchFamily="34" charset="-122"/>
                <a:cs typeface="Trebuchet MS" pitchFamily="34" charset="-120"/>
              </a:rPr>
              <a:t>Routing</a:t>
            </a:r>
            <a:endParaRPr lang="en-US" sz="1350" dirty="0"/>
          </a:p>
          <a:p>
            <a:pPr marL="0" indent="0" algn="ctr">
              <a:buNone/>
            </a:pPr>
            <a:r>
              <a:rPr lang="en-US" sz="1350" b="1" dirty="0">
                <a:solidFill>
                  <a:srgbClr val="FFFFFF"/>
                </a:solidFill>
                <a:latin typeface="Trebuchet MS" pitchFamily="34" charset="0"/>
                <a:ea typeface="Trebuchet MS" pitchFamily="34" charset="-122"/>
                <a:cs typeface="Trebuchet MS" pitchFamily="34" charset="-120"/>
              </a:rPr>
              <a:t>Decision</a:t>
            </a:r>
            <a:endParaRPr lang="en-US" sz="1350" dirty="0"/>
          </a:p>
        </p:txBody>
      </p:sp>
      <p:sp>
        <p:nvSpPr>
          <p:cNvPr id="15" name="Shape 13"/>
          <p:cNvSpPr/>
          <p:nvPr/>
        </p:nvSpPr>
        <p:spPr>
          <a:xfrm>
            <a:off x="502920" y="2542032"/>
            <a:ext cx="3977640" cy="2240280"/>
          </a:xfrm>
          <a:prstGeom prst="roundRect">
            <a:avLst>
              <a:gd name="adj" fmla="val 3265"/>
            </a:avLst>
          </a:prstGeom>
          <a:solidFill>
            <a:srgbClr val="F0FDFA"/>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16" name="Text 14"/>
          <p:cNvSpPr/>
          <p:nvPr/>
        </p:nvSpPr>
        <p:spPr>
          <a:xfrm>
            <a:off x="731520" y="2706624"/>
            <a:ext cx="3566160" cy="320040"/>
          </a:xfrm>
          <a:prstGeom prst="rect">
            <a:avLst/>
          </a:prstGeom>
          <a:noFill/>
          <a:ln/>
        </p:spPr>
        <p:txBody>
          <a:bodyPr wrap="square" lIns="0" tIns="0" rIns="0" bIns="0" rtlCol="0" anchor="ctr"/>
          <a:lstStyle/>
          <a:p>
            <a:pPr marL="0" indent="0">
              <a:buNone/>
            </a:pPr>
            <a:r>
              <a:rPr lang="en-US" sz="1450" b="1" dirty="0">
                <a:solidFill>
                  <a:srgbClr val="134E4A"/>
                </a:solidFill>
                <a:latin typeface="Trebuchet MS" pitchFamily="34" charset="0"/>
                <a:ea typeface="Trebuchet MS" pitchFamily="34" charset="-122"/>
                <a:cs typeface="Trebuchet MS" pitchFamily="34" charset="-120"/>
              </a:rPr>
              <a:t>Every response, same four fields</a:t>
            </a:r>
            <a:endParaRPr lang="en-US" sz="1450" dirty="0"/>
          </a:p>
        </p:txBody>
      </p:sp>
      <p:sp>
        <p:nvSpPr>
          <p:cNvPr id="17" name="Text 15"/>
          <p:cNvSpPr/>
          <p:nvPr/>
        </p:nvSpPr>
        <p:spPr>
          <a:xfrm>
            <a:off x="749808" y="3108960"/>
            <a:ext cx="3566160" cy="1554480"/>
          </a:xfrm>
          <a:prstGeom prst="rect">
            <a:avLst/>
          </a:prstGeom>
          <a:noFill/>
          <a:ln/>
        </p:spPr>
        <p:txBody>
          <a:bodyPr wrap="square" rtlCol="0" anchor="t"/>
          <a:lstStyle/>
          <a:p>
            <a:pPr marL="203200" indent="-2032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Critical emergency?  Yes or No</a:t>
            </a:r>
            <a:endParaRPr lang="en-US" sz="1250" dirty="0"/>
          </a:p>
          <a:p>
            <a:pPr marL="203200" indent="-2032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Detected symptoms — only what the patient said</a:t>
            </a:r>
            <a:endParaRPr lang="en-US" sz="1250" dirty="0"/>
          </a:p>
          <a:p>
            <a:pPr marL="203200" indent="-203200">
              <a:spcAft>
                <a:spcPts val="700"/>
              </a:spcAft>
              <a:buSzPct val="100000"/>
              <a:buChar char="✓"/>
            </a:pPr>
            <a:r>
              <a:rPr lang="en-US" sz="1250" dirty="0">
                <a:solidFill>
                  <a:srgbClr val="374151"/>
                </a:solidFill>
                <a:latin typeface="Calibri" pitchFamily="34" charset="0"/>
                <a:ea typeface="Calibri" pitchFamily="34" charset="-122"/>
                <a:cs typeface="Calibri" pitchFamily="34" charset="-120"/>
              </a:rPr>
              <a:t>One-line reasoning summary</a:t>
            </a:r>
            <a:endParaRPr lang="en-US" sz="1250" dirty="0"/>
          </a:p>
          <a:p>
            <a:pPr marL="203200" indent="-203200">
              <a:buSzPct val="100000"/>
              <a:buChar char="✓"/>
            </a:pPr>
            <a:r>
              <a:rPr lang="en-US" sz="1250" dirty="0">
                <a:solidFill>
                  <a:srgbClr val="374151"/>
                </a:solidFill>
                <a:latin typeface="Calibri" pitchFamily="34" charset="0"/>
                <a:ea typeface="Calibri" pitchFamily="34" charset="-122"/>
                <a:cs typeface="Calibri" pitchFamily="34" charset="-120"/>
              </a:rPr>
              <a:t>Routing destination</a:t>
            </a:r>
            <a:endParaRPr lang="en-US" sz="1250" dirty="0"/>
          </a:p>
        </p:txBody>
      </p:sp>
      <p:sp>
        <p:nvSpPr>
          <p:cNvPr id="18" name="Shape 16"/>
          <p:cNvSpPr/>
          <p:nvPr/>
        </p:nvSpPr>
        <p:spPr>
          <a:xfrm>
            <a:off x="4663440" y="2542032"/>
            <a:ext cx="3977640" cy="2240280"/>
          </a:xfrm>
          <a:prstGeom prst="roundRect">
            <a:avLst>
              <a:gd name="adj" fmla="val 3265"/>
            </a:avLst>
          </a:prstGeom>
          <a:solidFill>
            <a:srgbClr val="FFFFFF"/>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19" name="Text 17"/>
          <p:cNvSpPr/>
          <p:nvPr/>
        </p:nvSpPr>
        <p:spPr>
          <a:xfrm>
            <a:off x="4892040" y="2688336"/>
            <a:ext cx="3520440" cy="292608"/>
          </a:xfrm>
          <a:prstGeom prst="rect">
            <a:avLst/>
          </a:prstGeom>
          <a:noFill/>
          <a:ln/>
        </p:spPr>
        <p:txBody>
          <a:bodyPr wrap="square" lIns="0" tIns="0" rIns="0" bIns="0" rtlCol="0" anchor="ctr"/>
          <a:lstStyle/>
          <a:p>
            <a:pPr marL="0" indent="0">
              <a:buNone/>
            </a:pPr>
            <a:r>
              <a:rPr lang="en-US" sz="1450" b="1" dirty="0">
                <a:solidFill>
                  <a:srgbClr val="134E4A"/>
                </a:solidFill>
                <a:latin typeface="Trebuchet MS" pitchFamily="34" charset="0"/>
                <a:ea typeface="Trebuchet MS" pitchFamily="34" charset="-122"/>
                <a:cs typeface="Trebuchet MS" pitchFamily="34" charset="-120"/>
              </a:rPr>
              <a:t>Five fixed routing options</a:t>
            </a:r>
            <a:endParaRPr lang="en-US" sz="1450" dirty="0"/>
          </a:p>
        </p:txBody>
      </p:sp>
      <p:sp>
        <p:nvSpPr>
          <p:cNvPr id="20" name="Shape 18"/>
          <p:cNvSpPr/>
          <p:nvPr/>
        </p:nvSpPr>
        <p:spPr>
          <a:xfrm>
            <a:off x="4892040" y="3072384"/>
            <a:ext cx="1828800" cy="329184"/>
          </a:xfrm>
          <a:prstGeom prst="roundRect">
            <a:avLst>
              <a:gd name="adj" fmla="val 50000"/>
            </a:avLst>
          </a:prstGeom>
          <a:solidFill>
            <a:srgbClr val="CCFBF1"/>
          </a:solidFill>
          <a:ln/>
        </p:spPr>
        <p:txBody>
          <a:bodyPr/>
          <a:lstStyle/>
          <a:p>
            <a:endParaRPr lang="en-KE"/>
          </a:p>
        </p:txBody>
      </p:sp>
      <p:sp>
        <p:nvSpPr>
          <p:cNvPr id="21" name="Text 19"/>
          <p:cNvSpPr/>
          <p:nvPr/>
        </p:nvSpPr>
        <p:spPr>
          <a:xfrm>
            <a:off x="4892040" y="3072384"/>
            <a:ext cx="1828800" cy="329184"/>
          </a:xfrm>
          <a:prstGeom prst="rect">
            <a:avLst/>
          </a:prstGeom>
          <a:noFill/>
          <a:ln/>
        </p:spPr>
        <p:txBody>
          <a:bodyPr wrap="square" lIns="0" tIns="0" rIns="0" bIns="0" rtlCol="0" anchor="ctr"/>
          <a:lstStyle/>
          <a:p>
            <a:pPr marL="0" indent="0" algn="ctr">
              <a:buNone/>
            </a:pPr>
            <a:r>
              <a:rPr lang="en-US" sz="1050" b="1" dirty="0">
                <a:solidFill>
                  <a:srgbClr val="0F766E"/>
                </a:solidFill>
                <a:latin typeface="Calibri" pitchFamily="34" charset="0"/>
                <a:ea typeface="Calibri" pitchFamily="34" charset="-122"/>
                <a:cs typeface="Calibri" pitchFamily="34" charset="-120"/>
              </a:rPr>
              <a:t>Emergency Department</a:t>
            </a:r>
            <a:endParaRPr lang="en-US" sz="1050" dirty="0"/>
          </a:p>
        </p:txBody>
      </p:sp>
      <p:sp>
        <p:nvSpPr>
          <p:cNvPr id="22" name="Shape 20"/>
          <p:cNvSpPr/>
          <p:nvPr/>
        </p:nvSpPr>
        <p:spPr>
          <a:xfrm>
            <a:off x="6858000" y="3072384"/>
            <a:ext cx="1508760" cy="329184"/>
          </a:xfrm>
          <a:prstGeom prst="roundRect">
            <a:avLst>
              <a:gd name="adj" fmla="val 50000"/>
            </a:avLst>
          </a:prstGeom>
          <a:solidFill>
            <a:srgbClr val="CCFBF1"/>
          </a:solidFill>
          <a:ln/>
        </p:spPr>
        <p:txBody>
          <a:bodyPr/>
          <a:lstStyle/>
          <a:p>
            <a:endParaRPr lang="en-KE"/>
          </a:p>
        </p:txBody>
      </p:sp>
      <p:sp>
        <p:nvSpPr>
          <p:cNvPr id="23" name="Text 21"/>
          <p:cNvSpPr/>
          <p:nvPr/>
        </p:nvSpPr>
        <p:spPr>
          <a:xfrm>
            <a:off x="6858000" y="3072384"/>
            <a:ext cx="1508760" cy="329184"/>
          </a:xfrm>
          <a:prstGeom prst="rect">
            <a:avLst/>
          </a:prstGeom>
          <a:noFill/>
          <a:ln/>
        </p:spPr>
        <p:txBody>
          <a:bodyPr wrap="square" lIns="0" tIns="0" rIns="0" bIns="0" rtlCol="0" anchor="ctr"/>
          <a:lstStyle/>
          <a:p>
            <a:pPr marL="0" indent="0" algn="ctr">
              <a:buNone/>
            </a:pPr>
            <a:r>
              <a:rPr lang="en-US" sz="1050" b="1" dirty="0">
                <a:solidFill>
                  <a:srgbClr val="0F766E"/>
                </a:solidFill>
                <a:latin typeface="Calibri" pitchFamily="34" charset="0"/>
                <a:ea typeface="Calibri" pitchFamily="34" charset="-122"/>
                <a:cs typeface="Calibri" pitchFamily="34" charset="-120"/>
              </a:rPr>
              <a:t>Urgent Care</a:t>
            </a:r>
            <a:endParaRPr lang="en-US" sz="1050" dirty="0"/>
          </a:p>
        </p:txBody>
      </p:sp>
      <p:sp>
        <p:nvSpPr>
          <p:cNvPr id="24" name="Shape 22"/>
          <p:cNvSpPr/>
          <p:nvPr/>
        </p:nvSpPr>
        <p:spPr>
          <a:xfrm>
            <a:off x="4892040" y="3474720"/>
            <a:ext cx="1828800" cy="329184"/>
          </a:xfrm>
          <a:prstGeom prst="roundRect">
            <a:avLst>
              <a:gd name="adj" fmla="val 50000"/>
            </a:avLst>
          </a:prstGeom>
          <a:solidFill>
            <a:srgbClr val="CCFBF1"/>
          </a:solidFill>
          <a:ln/>
        </p:spPr>
        <p:txBody>
          <a:bodyPr/>
          <a:lstStyle/>
          <a:p>
            <a:endParaRPr lang="en-KE"/>
          </a:p>
        </p:txBody>
      </p:sp>
      <p:sp>
        <p:nvSpPr>
          <p:cNvPr id="25" name="Text 23"/>
          <p:cNvSpPr/>
          <p:nvPr/>
        </p:nvSpPr>
        <p:spPr>
          <a:xfrm>
            <a:off x="4892040" y="3474720"/>
            <a:ext cx="1828800" cy="329184"/>
          </a:xfrm>
          <a:prstGeom prst="rect">
            <a:avLst/>
          </a:prstGeom>
          <a:noFill/>
          <a:ln/>
        </p:spPr>
        <p:txBody>
          <a:bodyPr wrap="square" lIns="0" tIns="0" rIns="0" bIns="0" rtlCol="0" anchor="ctr"/>
          <a:lstStyle/>
          <a:p>
            <a:pPr marL="0" indent="0" algn="ctr">
              <a:buNone/>
            </a:pPr>
            <a:r>
              <a:rPr lang="en-US" sz="1050" b="1" dirty="0">
                <a:solidFill>
                  <a:srgbClr val="0F766E"/>
                </a:solidFill>
                <a:latin typeface="Calibri" pitchFamily="34" charset="0"/>
                <a:ea typeface="Calibri" pitchFamily="34" charset="-122"/>
                <a:cs typeface="Calibri" pitchFamily="34" charset="-120"/>
              </a:rPr>
              <a:t>General Practitioner</a:t>
            </a:r>
            <a:endParaRPr lang="en-US" sz="1050" dirty="0"/>
          </a:p>
        </p:txBody>
      </p:sp>
      <p:sp>
        <p:nvSpPr>
          <p:cNvPr id="26" name="Shape 24"/>
          <p:cNvSpPr/>
          <p:nvPr/>
        </p:nvSpPr>
        <p:spPr>
          <a:xfrm>
            <a:off x="6858000" y="3474720"/>
            <a:ext cx="1508760" cy="329184"/>
          </a:xfrm>
          <a:prstGeom prst="roundRect">
            <a:avLst>
              <a:gd name="adj" fmla="val 50000"/>
            </a:avLst>
          </a:prstGeom>
          <a:solidFill>
            <a:srgbClr val="CCFBF1"/>
          </a:solidFill>
          <a:ln/>
        </p:spPr>
        <p:txBody>
          <a:bodyPr/>
          <a:lstStyle/>
          <a:p>
            <a:endParaRPr lang="en-KE"/>
          </a:p>
        </p:txBody>
      </p:sp>
      <p:sp>
        <p:nvSpPr>
          <p:cNvPr id="27" name="Text 25"/>
          <p:cNvSpPr/>
          <p:nvPr/>
        </p:nvSpPr>
        <p:spPr>
          <a:xfrm>
            <a:off x="6858000" y="3474720"/>
            <a:ext cx="1508760" cy="329184"/>
          </a:xfrm>
          <a:prstGeom prst="rect">
            <a:avLst/>
          </a:prstGeom>
          <a:noFill/>
          <a:ln/>
        </p:spPr>
        <p:txBody>
          <a:bodyPr wrap="square" lIns="0" tIns="0" rIns="0" bIns="0" rtlCol="0" anchor="ctr"/>
          <a:lstStyle/>
          <a:p>
            <a:pPr marL="0" indent="0" algn="ctr">
              <a:buNone/>
            </a:pPr>
            <a:r>
              <a:rPr lang="en-US" sz="1050" b="1" dirty="0">
                <a:solidFill>
                  <a:srgbClr val="0F766E"/>
                </a:solidFill>
                <a:latin typeface="Calibri" pitchFamily="34" charset="0"/>
                <a:ea typeface="Calibri" pitchFamily="34" charset="-122"/>
                <a:cs typeface="Calibri" pitchFamily="34" charset="-120"/>
              </a:rPr>
              <a:t>Telemedicine</a:t>
            </a:r>
            <a:endParaRPr lang="en-US" sz="1050" dirty="0"/>
          </a:p>
        </p:txBody>
      </p:sp>
      <p:sp>
        <p:nvSpPr>
          <p:cNvPr id="28" name="Shape 26"/>
          <p:cNvSpPr/>
          <p:nvPr/>
        </p:nvSpPr>
        <p:spPr>
          <a:xfrm>
            <a:off x="4892040" y="3877056"/>
            <a:ext cx="1645920" cy="329184"/>
          </a:xfrm>
          <a:prstGeom prst="roundRect">
            <a:avLst>
              <a:gd name="adj" fmla="val 50000"/>
            </a:avLst>
          </a:prstGeom>
          <a:solidFill>
            <a:srgbClr val="CCFBF1"/>
          </a:solidFill>
          <a:ln/>
        </p:spPr>
        <p:txBody>
          <a:bodyPr/>
          <a:lstStyle/>
          <a:p>
            <a:endParaRPr lang="en-KE"/>
          </a:p>
        </p:txBody>
      </p:sp>
      <p:sp>
        <p:nvSpPr>
          <p:cNvPr id="29" name="Text 27"/>
          <p:cNvSpPr/>
          <p:nvPr/>
        </p:nvSpPr>
        <p:spPr>
          <a:xfrm>
            <a:off x="4892040" y="3877056"/>
            <a:ext cx="1645920" cy="329184"/>
          </a:xfrm>
          <a:prstGeom prst="rect">
            <a:avLst/>
          </a:prstGeom>
          <a:noFill/>
          <a:ln/>
        </p:spPr>
        <p:txBody>
          <a:bodyPr wrap="square" lIns="0" tIns="0" rIns="0" bIns="0" rtlCol="0" anchor="ctr"/>
          <a:lstStyle/>
          <a:p>
            <a:pPr marL="0" indent="0" algn="ctr">
              <a:buNone/>
            </a:pPr>
            <a:r>
              <a:rPr lang="en-US" sz="1050" b="1" dirty="0">
                <a:solidFill>
                  <a:srgbClr val="0F766E"/>
                </a:solidFill>
                <a:latin typeface="Calibri" pitchFamily="34" charset="0"/>
                <a:ea typeface="Calibri" pitchFamily="34" charset="-122"/>
                <a:cs typeface="Calibri" pitchFamily="34" charset="-120"/>
              </a:rPr>
              <a:t>Home Monitoring</a:t>
            </a:r>
            <a:endParaRPr lang="en-US" sz="1050" dirty="0"/>
          </a:p>
        </p:txBody>
      </p:sp>
      <p:sp>
        <p:nvSpPr>
          <p:cNvPr id="30" name="Shape 28"/>
          <p:cNvSpPr/>
          <p:nvPr/>
        </p:nvSpPr>
        <p:spPr>
          <a:xfrm>
            <a:off x="4892040" y="4306824"/>
            <a:ext cx="3520440" cy="402336"/>
          </a:xfrm>
          <a:prstGeom prst="roundRect">
            <a:avLst>
              <a:gd name="adj" fmla="val 18182"/>
            </a:avLst>
          </a:prstGeom>
          <a:solidFill>
            <a:srgbClr val="F0FDFA"/>
          </a:solidFill>
          <a:ln/>
        </p:spPr>
        <p:txBody>
          <a:bodyPr/>
          <a:lstStyle/>
          <a:p>
            <a:endParaRPr lang="en-KE"/>
          </a:p>
        </p:txBody>
      </p:sp>
      <p:sp>
        <p:nvSpPr>
          <p:cNvPr id="31" name="Text 29"/>
          <p:cNvSpPr/>
          <p:nvPr/>
        </p:nvSpPr>
        <p:spPr>
          <a:xfrm>
            <a:off x="5029200" y="4306824"/>
            <a:ext cx="3246120" cy="402336"/>
          </a:xfrm>
          <a:prstGeom prst="rect">
            <a:avLst/>
          </a:prstGeom>
          <a:noFill/>
          <a:ln/>
        </p:spPr>
        <p:txBody>
          <a:bodyPr wrap="square" lIns="0" tIns="0" rIns="0" bIns="0" rtlCol="0" anchor="ctr"/>
          <a:lstStyle/>
          <a:p>
            <a:pPr marL="0" indent="0">
              <a:buNone/>
            </a:pPr>
            <a:r>
              <a:rPr lang="en-US" sz="1150" b="1" dirty="0">
                <a:solidFill>
                  <a:srgbClr val="0F766E"/>
                </a:solidFill>
                <a:latin typeface="Calibri" pitchFamily="34" charset="0"/>
                <a:ea typeface="Calibri" pitchFamily="34" charset="-122"/>
                <a:cs typeface="Calibri" pitchFamily="34" charset="-120"/>
              </a:rPr>
              <a:t>Cloud-first </a:t>
            </a:r>
            <a:r>
              <a:rPr lang="en-US" sz="1150" dirty="0">
                <a:solidFill>
                  <a:srgbClr val="374151"/>
                </a:solidFill>
                <a:latin typeface="Calibri" pitchFamily="34" charset="0"/>
                <a:ea typeface="Calibri" pitchFamily="34" charset="-122"/>
                <a:cs typeface="Calibri" pitchFamily="34" charset="-120"/>
              </a:rPr>
              <a:t>with automatic local backup when the internet fails.</a:t>
            </a:r>
            <a:endParaRPr lang="en-US" sz="1150" dirty="0"/>
          </a:p>
        </p:txBody>
      </p:sp>
      <p:sp>
        <p:nvSpPr>
          <p:cNvPr id="32" name="Slide Number Placeholder 0"/>
          <p:cNvSpPr>
            <a:spLocks noGrp="1"/>
          </p:cNvSpPr>
          <p:nvPr>
            <p:ph type="sldNum" sz="quarter" idx="4294967295"/>
          </p:nvPr>
        </p:nvSpPr>
        <p:spPr>
          <a:xfrm>
            <a:off x="8366760" y="4828032"/>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256032"/>
            <a:ext cx="8138160" cy="658368"/>
          </a:xfrm>
          <a:prstGeom prst="rect">
            <a:avLst/>
          </a:prstGeom>
          <a:noFill/>
          <a:ln/>
        </p:spPr>
        <p:txBody>
          <a:bodyPr wrap="square" rtlCol="0" anchor="ctr"/>
          <a:lstStyle/>
          <a:p>
            <a:pPr marL="0" indent="0" algn="l">
              <a:buNone/>
            </a:pPr>
            <a:r>
              <a:rPr lang="en-US" sz="2600" b="1" dirty="0">
                <a:solidFill>
                  <a:srgbClr val="134E4A"/>
                </a:solidFill>
                <a:latin typeface="Trebuchet MS" pitchFamily="34" charset="0"/>
                <a:ea typeface="Trebuchet MS" pitchFamily="34" charset="-122"/>
                <a:cs typeface="Trebuchet MS" pitchFamily="34" charset="-120"/>
              </a:rPr>
              <a:t>Why GPT-4o-mini + llama3.2?</a:t>
            </a:r>
            <a:endParaRPr lang="en-US" sz="2600" dirty="0"/>
          </a:p>
        </p:txBody>
      </p:sp>
      <p:sp>
        <p:nvSpPr>
          <p:cNvPr id="3" name="Text 1"/>
          <p:cNvSpPr/>
          <p:nvPr/>
        </p:nvSpPr>
        <p:spPr>
          <a:xfrm>
            <a:off x="502920" y="932688"/>
            <a:ext cx="8138160" cy="292608"/>
          </a:xfrm>
          <a:prstGeom prst="rect">
            <a:avLst/>
          </a:prstGeom>
          <a:noFill/>
          <a:ln/>
        </p:spPr>
        <p:txBody>
          <a:bodyPr wrap="square" lIns="0" tIns="0" rIns="0" bIns="0" rtlCol="0" anchor="ctr"/>
          <a:lstStyle/>
          <a:p>
            <a:pPr marL="0" indent="0">
              <a:buNone/>
            </a:pPr>
            <a:r>
              <a:rPr lang="en-US" sz="1300" i="1" dirty="0">
                <a:solidFill>
                  <a:srgbClr val="0F766E"/>
                </a:solidFill>
                <a:latin typeface="Calibri" pitchFamily="34" charset="0"/>
                <a:ea typeface="Calibri" pitchFamily="34" charset="-122"/>
                <a:cs typeface="Calibri" pitchFamily="34" charset="-120"/>
              </a:rPr>
              <a:t>Cloud for quality and speed. Local for resilience and offline safety.</a:t>
            </a:r>
            <a:endParaRPr lang="en-US" sz="1300" dirty="0"/>
          </a:p>
        </p:txBody>
      </p:sp>
      <p:sp>
        <p:nvSpPr>
          <p:cNvPr id="4" name="Shape 2"/>
          <p:cNvSpPr/>
          <p:nvPr/>
        </p:nvSpPr>
        <p:spPr>
          <a:xfrm>
            <a:off x="502920" y="1325880"/>
            <a:ext cx="3977640" cy="1874520"/>
          </a:xfrm>
          <a:prstGeom prst="roundRect">
            <a:avLst>
              <a:gd name="adj" fmla="val 3902"/>
            </a:avLst>
          </a:prstGeom>
          <a:solidFill>
            <a:srgbClr val="FFFFFF"/>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5" name="Shape 3"/>
          <p:cNvSpPr/>
          <p:nvPr/>
        </p:nvSpPr>
        <p:spPr>
          <a:xfrm>
            <a:off x="502920" y="1325880"/>
            <a:ext cx="3977640" cy="457200"/>
          </a:xfrm>
          <a:prstGeom prst="roundRect">
            <a:avLst>
              <a:gd name="adj" fmla="val 16000"/>
            </a:avLst>
          </a:prstGeom>
          <a:solidFill>
            <a:srgbClr val="0F766E"/>
          </a:solidFill>
          <a:ln/>
        </p:spPr>
        <p:txBody>
          <a:bodyPr/>
          <a:lstStyle/>
          <a:p>
            <a:endParaRPr lang="en-KE"/>
          </a:p>
        </p:txBody>
      </p:sp>
      <p:sp>
        <p:nvSpPr>
          <p:cNvPr id="6" name="Shape 4"/>
          <p:cNvSpPr/>
          <p:nvPr/>
        </p:nvSpPr>
        <p:spPr>
          <a:xfrm>
            <a:off x="502920" y="1554480"/>
            <a:ext cx="3977640" cy="228600"/>
          </a:xfrm>
          <a:prstGeom prst="rect">
            <a:avLst/>
          </a:prstGeom>
          <a:solidFill>
            <a:srgbClr val="0F766E"/>
          </a:solidFill>
          <a:ln/>
        </p:spPr>
        <p:txBody>
          <a:bodyPr/>
          <a:lstStyle/>
          <a:p>
            <a:endParaRPr lang="en-KE"/>
          </a:p>
        </p:txBody>
      </p:sp>
      <p:sp>
        <p:nvSpPr>
          <p:cNvPr id="7" name="Text 5"/>
          <p:cNvSpPr/>
          <p:nvPr/>
        </p:nvSpPr>
        <p:spPr>
          <a:xfrm>
            <a:off x="685800" y="1325880"/>
            <a:ext cx="3657600" cy="457200"/>
          </a:xfrm>
          <a:prstGeom prst="rect">
            <a:avLst/>
          </a:prstGeom>
          <a:noFill/>
          <a:ln/>
        </p:spPr>
        <p:txBody>
          <a:bodyPr wrap="square" lIns="0" tIns="0" rIns="0" bIns="0" rtlCol="0" anchor="ctr"/>
          <a:lstStyle/>
          <a:p>
            <a:pPr marL="0" indent="0">
              <a:buNone/>
            </a:pPr>
            <a:r>
              <a:rPr lang="en-US" sz="1350" b="1" dirty="0">
                <a:solidFill>
                  <a:srgbClr val="99F6E4"/>
                </a:solidFill>
                <a:latin typeface="Trebuchet MS" pitchFamily="34" charset="0"/>
                <a:ea typeface="Trebuchet MS" pitchFamily="34" charset="-122"/>
                <a:cs typeface="Trebuchet MS" pitchFamily="34" charset="-120"/>
              </a:rPr>
              <a:t>PRIMARY  </a:t>
            </a:r>
            <a:r>
              <a:rPr lang="en-US" sz="1350" b="1" dirty="0">
                <a:solidFill>
                  <a:srgbClr val="FFFFFF"/>
                </a:solidFill>
                <a:latin typeface="Trebuchet MS" pitchFamily="34" charset="0"/>
                <a:ea typeface="Trebuchet MS" pitchFamily="34" charset="-122"/>
                <a:cs typeface="Trebuchet MS" pitchFamily="34" charset="-120"/>
              </a:rPr>
              <a:t>GPT-4o-mini (Cloud)</a:t>
            </a:r>
            <a:endParaRPr lang="en-US" sz="1350" dirty="0"/>
          </a:p>
        </p:txBody>
      </p:sp>
      <p:sp>
        <p:nvSpPr>
          <p:cNvPr id="8" name="Text 6"/>
          <p:cNvSpPr/>
          <p:nvPr/>
        </p:nvSpPr>
        <p:spPr>
          <a:xfrm>
            <a:off x="713232" y="1892808"/>
            <a:ext cx="3611880" cy="1234440"/>
          </a:xfrm>
          <a:prstGeom prst="rect">
            <a:avLst/>
          </a:prstGeom>
          <a:noFill/>
          <a:ln/>
        </p:spPr>
        <p:txBody>
          <a:bodyPr wrap="square" rtlCol="0" anchor="t"/>
          <a:lstStyle/>
          <a:p>
            <a:pPr marL="165100" indent="-165100">
              <a:spcAft>
                <a:spcPts val="500"/>
              </a:spcAft>
              <a:buSzPct val="100000"/>
              <a:buChar char="•"/>
            </a:pPr>
            <a:r>
              <a:rPr lang="en-US" sz="1150" dirty="0">
                <a:solidFill>
                  <a:srgbClr val="374151"/>
                </a:solidFill>
                <a:latin typeface="Calibri" pitchFamily="34" charset="0"/>
                <a:ea typeface="Calibri" pitchFamily="34" charset="-122"/>
                <a:cs typeface="Calibri" pitchFamily="34" charset="-120"/>
              </a:rPr>
              <a:t>Lightweight cloud model — fast and cost-effective</a:t>
            </a:r>
            <a:endParaRPr lang="en-US" sz="1150" dirty="0"/>
          </a:p>
          <a:p>
            <a:pPr marL="165100" indent="-165100">
              <a:spcAft>
                <a:spcPts val="500"/>
              </a:spcAft>
              <a:buSzPct val="100000"/>
              <a:buChar char="•"/>
            </a:pPr>
            <a:r>
              <a:rPr lang="en-US" sz="1150" dirty="0">
                <a:solidFill>
                  <a:srgbClr val="374151"/>
                </a:solidFill>
                <a:latin typeface="Calibri" pitchFamily="34" charset="0"/>
                <a:ea typeface="Calibri" pitchFamily="34" charset="-122"/>
                <a:cs typeface="Calibri" pitchFamily="34" charset="-120"/>
              </a:rPr>
              <a:t>Strong at following strict rules and complex reasoning</a:t>
            </a:r>
            <a:endParaRPr lang="en-US" sz="1150" dirty="0"/>
          </a:p>
          <a:p>
            <a:pPr marL="165100" indent="-165100">
              <a:spcAft>
                <a:spcPts val="500"/>
              </a:spcAft>
              <a:buSzPct val="100000"/>
              <a:buChar char="•"/>
            </a:pPr>
            <a:r>
              <a:rPr lang="en-US" sz="1150" dirty="0">
                <a:solidFill>
                  <a:srgbClr val="374151"/>
                </a:solidFill>
                <a:latin typeface="Calibri" pitchFamily="34" charset="0"/>
                <a:ea typeface="Calibri" pitchFamily="34" charset="-122"/>
                <a:cs typeface="Calibri" pitchFamily="34" charset="-120"/>
              </a:rPr>
              <a:t>Average response time ~3.1 seconds in testing</a:t>
            </a:r>
            <a:endParaRPr lang="en-US" sz="1150" dirty="0"/>
          </a:p>
          <a:p>
            <a:pPr marL="0" indent="0">
              <a:buNone/>
            </a:pPr>
            <a:r>
              <a:rPr lang="en-US" sz="1150" i="1" dirty="0">
                <a:solidFill>
                  <a:srgbClr val="B45309"/>
                </a:solidFill>
                <a:latin typeface="Calibri" pitchFamily="34" charset="0"/>
                <a:ea typeface="Calibri" pitchFamily="34" charset="-122"/>
                <a:cs typeface="Calibri" pitchFamily="34" charset="-120"/>
              </a:rPr>
              <a:t>Trade-offs: needs internet, cost per message, data leaves our systems</a:t>
            </a:r>
            <a:endParaRPr lang="en-US" sz="1150" dirty="0"/>
          </a:p>
        </p:txBody>
      </p:sp>
      <p:sp>
        <p:nvSpPr>
          <p:cNvPr id="9" name="Shape 7"/>
          <p:cNvSpPr/>
          <p:nvPr/>
        </p:nvSpPr>
        <p:spPr>
          <a:xfrm>
            <a:off x="4663440" y="1325880"/>
            <a:ext cx="3977640" cy="1874520"/>
          </a:xfrm>
          <a:prstGeom prst="roundRect">
            <a:avLst>
              <a:gd name="adj" fmla="val 3902"/>
            </a:avLst>
          </a:prstGeom>
          <a:solidFill>
            <a:srgbClr val="FFFFFF"/>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10" name="Shape 8"/>
          <p:cNvSpPr/>
          <p:nvPr/>
        </p:nvSpPr>
        <p:spPr>
          <a:xfrm>
            <a:off x="4663440" y="1325880"/>
            <a:ext cx="3977640" cy="457200"/>
          </a:xfrm>
          <a:prstGeom prst="roundRect">
            <a:avLst>
              <a:gd name="adj" fmla="val 16000"/>
            </a:avLst>
          </a:prstGeom>
          <a:solidFill>
            <a:srgbClr val="0E9F6E"/>
          </a:solidFill>
          <a:ln/>
        </p:spPr>
        <p:txBody>
          <a:bodyPr/>
          <a:lstStyle/>
          <a:p>
            <a:endParaRPr lang="en-KE"/>
          </a:p>
        </p:txBody>
      </p:sp>
      <p:sp>
        <p:nvSpPr>
          <p:cNvPr id="11" name="Shape 9"/>
          <p:cNvSpPr/>
          <p:nvPr/>
        </p:nvSpPr>
        <p:spPr>
          <a:xfrm>
            <a:off x="4663440" y="1554480"/>
            <a:ext cx="3977640" cy="228600"/>
          </a:xfrm>
          <a:prstGeom prst="rect">
            <a:avLst/>
          </a:prstGeom>
          <a:solidFill>
            <a:srgbClr val="0E9F6E"/>
          </a:solidFill>
          <a:ln/>
        </p:spPr>
        <p:txBody>
          <a:bodyPr/>
          <a:lstStyle/>
          <a:p>
            <a:endParaRPr lang="en-KE"/>
          </a:p>
        </p:txBody>
      </p:sp>
      <p:sp>
        <p:nvSpPr>
          <p:cNvPr id="12" name="Text 10"/>
          <p:cNvSpPr/>
          <p:nvPr/>
        </p:nvSpPr>
        <p:spPr>
          <a:xfrm>
            <a:off x="4846320" y="1325880"/>
            <a:ext cx="3657600" cy="457200"/>
          </a:xfrm>
          <a:prstGeom prst="rect">
            <a:avLst/>
          </a:prstGeom>
          <a:noFill/>
          <a:ln/>
        </p:spPr>
        <p:txBody>
          <a:bodyPr wrap="square" lIns="0" tIns="0" rIns="0" bIns="0" rtlCol="0" anchor="ctr"/>
          <a:lstStyle/>
          <a:p>
            <a:pPr marL="0" indent="0">
              <a:buNone/>
            </a:pPr>
            <a:r>
              <a:rPr lang="en-US" sz="1350" b="1" dirty="0">
                <a:solidFill>
                  <a:srgbClr val="D1FAE5"/>
                </a:solidFill>
                <a:latin typeface="Trebuchet MS" pitchFamily="34" charset="0"/>
                <a:ea typeface="Trebuchet MS" pitchFamily="34" charset="-122"/>
                <a:cs typeface="Trebuchet MS" pitchFamily="34" charset="-120"/>
              </a:rPr>
              <a:t>BACKUP  </a:t>
            </a:r>
            <a:r>
              <a:rPr lang="en-US" sz="1350" b="1" dirty="0">
                <a:solidFill>
                  <a:srgbClr val="FFFFFF"/>
                </a:solidFill>
                <a:latin typeface="Trebuchet MS" pitchFamily="34" charset="0"/>
                <a:ea typeface="Trebuchet MS" pitchFamily="34" charset="-122"/>
                <a:cs typeface="Trebuchet MS" pitchFamily="34" charset="-120"/>
              </a:rPr>
              <a:t>llama3.2 via Ollama (Local)</a:t>
            </a:r>
            <a:endParaRPr lang="en-US" sz="1350" dirty="0"/>
          </a:p>
        </p:txBody>
      </p:sp>
      <p:sp>
        <p:nvSpPr>
          <p:cNvPr id="13" name="Text 11"/>
          <p:cNvSpPr/>
          <p:nvPr/>
        </p:nvSpPr>
        <p:spPr>
          <a:xfrm>
            <a:off x="4873752" y="1892808"/>
            <a:ext cx="3611880" cy="1234440"/>
          </a:xfrm>
          <a:prstGeom prst="rect">
            <a:avLst/>
          </a:prstGeom>
          <a:noFill/>
          <a:ln/>
        </p:spPr>
        <p:txBody>
          <a:bodyPr wrap="square" rtlCol="0" anchor="t"/>
          <a:lstStyle/>
          <a:p>
            <a:pPr marL="165100" indent="-165100">
              <a:spcAft>
                <a:spcPts val="500"/>
              </a:spcAft>
              <a:buSzPct val="100000"/>
              <a:buChar char="•"/>
            </a:pPr>
            <a:r>
              <a:rPr lang="en-US" sz="1150" dirty="0">
                <a:solidFill>
                  <a:srgbClr val="374151"/>
                </a:solidFill>
                <a:latin typeface="Calibri" pitchFamily="34" charset="0"/>
                <a:ea typeface="Calibri" pitchFamily="34" charset="-122"/>
                <a:cs typeface="Calibri" pitchFamily="34" charset="-120"/>
              </a:rPr>
              <a:t>Open-source model on our own hardware</a:t>
            </a:r>
            <a:endParaRPr lang="en-US" sz="1150" dirty="0"/>
          </a:p>
          <a:p>
            <a:pPr marL="165100" indent="-165100">
              <a:spcAft>
                <a:spcPts val="500"/>
              </a:spcAft>
              <a:buSzPct val="100000"/>
              <a:buChar char="•"/>
            </a:pPr>
            <a:r>
              <a:rPr lang="en-US" sz="1150" dirty="0">
                <a:solidFill>
                  <a:srgbClr val="374151"/>
                </a:solidFill>
                <a:latin typeface="Calibri" pitchFamily="34" charset="0"/>
                <a:ea typeface="Calibri" pitchFamily="34" charset="-122"/>
                <a:cs typeface="Calibri" pitchFamily="34" charset="-120"/>
              </a:rPr>
              <a:t>Automatic fallback when the cloud fails or times out</a:t>
            </a:r>
            <a:endParaRPr lang="en-US" sz="1150" dirty="0"/>
          </a:p>
          <a:p>
            <a:pPr marL="165100" indent="-165100">
              <a:spcAft>
                <a:spcPts val="500"/>
              </a:spcAft>
              <a:buSzPct val="100000"/>
              <a:buChar char="•"/>
            </a:pPr>
            <a:r>
              <a:rPr lang="en-US" sz="1150" dirty="0">
                <a:solidFill>
                  <a:srgbClr val="374151"/>
                </a:solidFill>
                <a:latin typeface="Calibri" pitchFamily="34" charset="0"/>
                <a:ea typeface="Calibri" pitchFamily="34" charset="-122"/>
                <a:cs typeface="Calibri" pitchFamily="34" charset="-120"/>
              </a:rPr>
              <a:t>Works offline — no internet, no per-message cost</a:t>
            </a:r>
            <a:endParaRPr lang="en-US" sz="1150" dirty="0"/>
          </a:p>
          <a:p>
            <a:pPr marL="0" indent="0">
              <a:buNone/>
            </a:pPr>
            <a:r>
              <a:rPr lang="en-US" sz="1150" i="1" dirty="0">
                <a:solidFill>
                  <a:srgbClr val="B45309"/>
                </a:solidFill>
                <a:latin typeface="Calibri" pitchFamily="34" charset="0"/>
                <a:ea typeface="Calibri" pitchFamily="34" charset="-122"/>
                <a:cs typeface="Calibri" pitchFamily="34" charset="-120"/>
              </a:rPr>
              <a:t>Trade-offs: slower (~6.9s), less accurate on complex edge cases</a:t>
            </a:r>
            <a:endParaRPr lang="en-US" sz="1150" dirty="0"/>
          </a:p>
        </p:txBody>
      </p:sp>
      <p:sp>
        <p:nvSpPr>
          <p:cNvPr id="14" name="Text 12"/>
          <p:cNvSpPr/>
          <p:nvPr/>
        </p:nvSpPr>
        <p:spPr>
          <a:xfrm>
            <a:off x="502920" y="3310128"/>
            <a:ext cx="3657600" cy="256032"/>
          </a:xfrm>
          <a:prstGeom prst="rect">
            <a:avLst/>
          </a:prstGeom>
          <a:noFill/>
          <a:ln/>
        </p:spPr>
        <p:txBody>
          <a:bodyPr wrap="square" lIns="0" tIns="0" rIns="0" bIns="0" rtlCol="0" anchor="ctr"/>
          <a:lstStyle/>
          <a:p>
            <a:pPr marL="0" indent="0">
              <a:buNone/>
            </a:pPr>
            <a:r>
              <a:rPr lang="en-US" sz="1050" b="1" kern="0" spc="200" dirty="0">
                <a:solidFill>
                  <a:srgbClr val="64748B"/>
                </a:solidFill>
                <a:latin typeface="Calibri" pitchFamily="34" charset="0"/>
                <a:ea typeface="Calibri" pitchFamily="34" charset="-122"/>
                <a:cs typeface="Calibri" pitchFamily="34" charset="-120"/>
              </a:rPr>
              <a:t>REAL TEST RUNS</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3817164066"/>
              </p:ext>
            </p:extLst>
          </p:nvPr>
        </p:nvGraphicFramePr>
        <p:xfrm>
          <a:off x="502920" y="3584448"/>
          <a:ext cx="8138160" cy="1371600"/>
        </p:xfrm>
        <a:graphic>
          <a:graphicData uri="http://schemas.openxmlformats.org/drawingml/2006/table">
            <a:tbl>
              <a:tblPr/>
              <a:tblGrid>
                <a:gridCol w="31089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27432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Test Case</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0F766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Path</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0F766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Response Time</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0F766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Routing Result</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274320">
                <a:tc>
                  <a:txBody>
                    <a:bodyPr/>
                    <a:lstStyle/>
                    <a:p>
                      <a:pPr marL="0" indent="0" algn="l">
                        <a:buNone/>
                      </a:pPr>
                      <a:r>
                        <a:rPr lang="en-US" sz="1100" dirty="0">
                          <a:solidFill>
                            <a:srgbClr val="374151"/>
                          </a:solidFill>
                          <a:latin typeface="Calibri" pitchFamily="34" charset="0"/>
                          <a:ea typeface="Calibri" pitchFamily="34" charset="-122"/>
                          <a:cs typeface="Calibri" pitchFamily="34" charset="-120"/>
                        </a:rPr>
                        <a:t>Broken leg, exposed bone</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F766E"/>
                          </a:solidFill>
                          <a:latin typeface="Calibri" pitchFamily="34" charset="0"/>
                          <a:ea typeface="Calibri" pitchFamily="34" charset="-122"/>
                          <a:cs typeface="Calibri" pitchFamily="34" charset="-120"/>
                        </a:rPr>
                        <a:t>Cloud</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latin typeface="Calibri" pitchFamily="34" charset="0"/>
                          <a:ea typeface="Calibri" pitchFamily="34" charset="-122"/>
                          <a:cs typeface="Calibri" pitchFamily="34" charset="-120"/>
                        </a:rPr>
                        <a:t>2.60 s</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74151"/>
                          </a:solidFill>
                          <a:latin typeface="Calibri" pitchFamily="34" charset="0"/>
                          <a:ea typeface="Calibri" pitchFamily="34" charset="-122"/>
                          <a:cs typeface="Calibri" pitchFamily="34" charset="-120"/>
                        </a:rPr>
                        <a:t>Emergency Department</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100" dirty="0">
                          <a:solidFill>
                            <a:srgbClr val="374151"/>
                          </a:solidFill>
                          <a:latin typeface="Calibri" pitchFamily="34" charset="0"/>
                          <a:ea typeface="Calibri" pitchFamily="34" charset="-122"/>
                          <a:cs typeface="Calibri" pitchFamily="34" charset="-120"/>
                        </a:rPr>
                        <a:t>Cold and running nose</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F766E"/>
                          </a:solidFill>
                          <a:latin typeface="Calibri" pitchFamily="34" charset="0"/>
                          <a:ea typeface="Calibri" pitchFamily="34" charset="-122"/>
                          <a:cs typeface="Calibri" pitchFamily="34" charset="-120"/>
                        </a:rPr>
                        <a:t>Cloud</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latin typeface="Calibri" pitchFamily="34" charset="0"/>
                          <a:ea typeface="Calibri" pitchFamily="34" charset="-122"/>
                          <a:cs typeface="Calibri" pitchFamily="34" charset="-120"/>
                        </a:rPr>
                        <a:t>3.67 s</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74151"/>
                          </a:solidFill>
                          <a:latin typeface="Calibri" pitchFamily="34" charset="0"/>
                          <a:ea typeface="Calibri" pitchFamily="34" charset="-122"/>
                          <a:cs typeface="Calibri" pitchFamily="34" charset="-120"/>
                        </a:rPr>
                        <a:t>Home Monitoring</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100" dirty="0">
                          <a:solidFill>
                            <a:srgbClr val="374151"/>
                          </a:solidFill>
                          <a:latin typeface="Calibri" pitchFamily="34" charset="0"/>
                          <a:ea typeface="Calibri" pitchFamily="34" charset="-122"/>
                          <a:cs typeface="Calibri" pitchFamily="34" charset="-120"/>
                        </a:rPr>
                        <a:t>Sore throat (cloud failed)</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EA580C"/>
                          </a:solidFill>
                          <a:latin typeface="Calibri" pitchFamily="34" charset="0"/>
                          <a:ea typeface="Calibri" pitchFamily="34" charset="-122"/>
                          <a:cs typeface="Calibri" pitchFamily="34" charset="-120"/>
                        </a:rPr>
                        <a:t>Local fallback</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latin typeface="Calibri" pitchFamily="34" charset="0"/>
                          <a:ea typeface="Calibri" pitchFamily="34" charset="-122"/>
                          <a:cs typeface="Calibri" pitchFamily="34" charset="-120"/>
                        </a:rPr>
                        <a:t>7.08 s</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74151"/>
                          </a:solidFill>
                          <a:latin typeface="Calibri" pitchFamily="34" charset="0"/>
                          <a:ea typeface="Calibri" pitchFamily="34" charset="-122"/>
                          <a:cs typeface="Calibri" pitchFamily="34" charset="-120"/>
                        </a:rPr>
                        <a:t>General Practitioner</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100" dirty="0">
                          <a:solidFill>
                            <a:srgbClr val="374151"/>
                          </a:solidFill>
                          <a:latin typeface="Calibri" pitchFamily="34" charset="0"/>
                          <a:ea typeface="Calibri" pitchFamily="34" charset="-122"/>
                          <a:cs typeface="Calibri" pitchFamily="34" charset="-120"/>
                        </a:rPr>
                        <a:t>Difficulty breathing (cloud failed)</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EA580C"/>
                          </a:solidFill>
                          <a:latin typeface="Calibri" pitchFamily="34" charset="0"/>
                          <a:ea typeface="Calibri" pitchFamily="34" charset="-122"/>
                          <a:cs typeface="Calibri" pitchFamily="34" charset="-120"/>
                        </a:rPr>
                        <a:t>Local fallback</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latin typeface="Calibri" pitchFamily="34" charset="0"/>
                          <a:ea typeface="Calibri" pitchFamily="34" charset="-122"/>
                          <a:cs typeface="Calibri" pitchFamily="34" charset="-120"/>
                        </a:rPr>
                        <a:t>6.69 s</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74151"/>
                          </a:solidFill>
                          <a:latin typeface="Calibri" pitchFamily="34" charset="0"/>
                          <a:ea typeface="Calibri" pitchFamily="34" charset="-122"/>
                          <a:cs typeface="Calibri" pitchFamily="34" charset="-120"/>
                        </a:rPr>
                        <a:t>Urgent Care Clinic</a:t>
                      </a:r>
                      <a:endParaRPr lang="en-US" sz="1100" dirty="0">
                        <a:latin typeface="Calibri" charset="0"/>
                        <a:ea typeface="Calibri" charset="0"/>
                        <a:cs typeface="Calibri" charset="0"/>
                      </a:endParaRPr>
                    </a:p>
                  </a:txBody>
                  <a:tcPr marL="76200" marR="76200" marT="25400" marB="25400" anchor="ctr">
                    <a:lnL w="6350" cap="flat" cmpd="sng" algn="ctr">
                      <a:solidFill>
                        <a:srgbClr val="D6F5EE"/>
                      </a:solidFill>
                      <a:prstDash val="solid"/>
                      <a:round/>
                      <a:headEnd type="none" w="med" len="med"/>
                      <a:tailEnd type="none" w="med" len="med"/>
                    </a:lnL>
                    <a:lnR w="6350" cap="flat" cmpd="sng" algn="ctr">
                      <a:solidFill>
                        <a:srgbClr val="D6F5EE"/>
                      </a:solidFill>
                      <a:prstDash val="solid"/>
                      <a:round/>
                      <a:headEnd type="none" w="med" len="med"/>
                      <a:tailEnd type="none" w="med" len="med"/>
                    </a:lnR>
                    <a:lnT w="6350" cap="flat" cmpd="sng" algn="ctr">
                      <a:solidFill>
                        <a:srgbClr val="D6F5EE"/>
                      </a:solidFill>
                      <a:prstDash val="solid"/>
                      <a:round/>
                      <a:headEnd type="none" w="med" len="med"/>
                      <a:tailEnd type="none" w="med" len="med"/>
                    </a:lnT>
                    <a:lnB w="6350" cap="flat" cmpd="sng" algn="ctr">
                      <a:solidFill>
                        <a:srgbClr val="D6F5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66760" y="4828032"/>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256032"/>
            <a:ext cx="8138160" cy="658368"/>
          </a:xfrm>
          <a:prstGeom prst="rect">
            <a:avLst/>
          </a:prstGeom>
          <a:noFill/>
          <a:ln/>
        </p:spPr>
        <p:txBody>
          <a:bodyPr wrap="square" rtlCol="0" anchor="ctr"/>
          <a:lstStyle/>
          <a:p>
            <a:pPr marL="0" indent="0" algn="l">
              <a:buNone/>
            </a:pPr>
            <a:r>
              <a:rPr lang="en-US" sz="2600" b="1" dirty="0">
                <a:solidFill>
                  <a:srgbClr val="134E4A"/>
                </a:solidFill>
                <a:latin typeface="Trebuchet MS" pitchFamily="34" charset="0"/>
                <a:ea typeface="Trebuchet MS" pitchFamily="34" charset="-122"/>
                <a:cs typeface="Trebuchet MS" pitchFamily="34" charset="-120"/>
              </a:rPr>
              <a:t>How We Control AI Behaviour</a:t>
            </a:r>
            <a:endParaRPr lang="en-US" sz="2600" dirty="0"/>
          </a:p>
        </p:txBody>
      </p:sp>
      <p:sp>
        <p:nvSpPr>
          <p:cNvPr id="3" name="Text 1"/>
          <p:cNvSpPr/>
          <p:nvPr/>
        </p:nvSpPr>
        <p:spPr>
          <a:xfrm>
            <a:off x="502920" y="932688"/>
            <a:ext cx="8138160" cy="320040"/>
          </a:xfrm>
          <a:prstGeom prst="rect">
            <a:avLst/>
          </a:prstGeom>
          <a:noFill/>
          <a:ln/>
        </p:spPr>
        <p:txBody>
          <a:bodyPr wrap="square" lIns="0" tIns="0" rIns="0" bIns="0" rtlCol="0" anchor="ctr"/>
          <a:lstStyle/>
          <a:p>
            <a:pPr marL="0" indent="0">
              <a:buNone/>
            </a:pPr>
            <a:r>
              <a:rPr lang="en-US" sz="1300" i="1" dirty="0">
                <a:solidFill>
                  <a:srgbClr val="0F766E"/>
                </a:solidFill>
                <a:latin typeface="Calibri" pitchFamily="34" charset="0"/>
                <a:ea typeface="Calibri" pitchFamily="34" charset="-122"/>
                <a:cs typeface="Calibri" pitchFamily="34" charset="-120"/>
              </a:rPr>
              <a:t>Three prompt versions tested — the final one uses role assignment, step-by-step reasoning, and strict guardrails.</a:t>
            </a:r>
            <a:endParaRPr lang="en-US" sz="1300" dirty="0"/>
          </a:p>
        </p:txBody>
      </p:sp>
      <p:sp>
        <p:nvSpPr>
          <p:cNvPr id="4" name="Shape 2"/>
          <p:cNvSpPr/>
          <p:nvPr/>
        </p:nvSpPr>
        <p:spPr>
          <a:xfrm>
            <a:off x="502920" y="1371600"/>
            <a:ext cx="3977640" cy="3246120"/>
          </a:xfrm>
          <a:prstGeom prst="roundRect">
            <a:avLst>
              <a:gd name="adj" fmla="val 2254"/>
            </a:avLst>
          </a:prstGeom>
          <a:solidFill>
            <a:srgbClr val="F0FDFA"/>
          </a:solidFill>
          <a:ln w="12700">
            <a:solidFill>
              <a:srgbClr val="99F6E4"/>
            </a:solidFill>
            <a:prstDash val="solid"/>
          </a:ln>
          <a:effectLst>
            <a:outerShdw blurRad="101600" dist="25400" dir="5400000" algn="bl" rotWithShape="0">
              <a:srgbClr val="334155">
                <a:alpha val="12000"/>
              </a:srgbClr>
            </a:outerShdw>
          </a:effectLst>
        </p:spPr>
        <p:txBody>
          <a:bodyPr/>
          <a:lstStyle/>
          <a:p>
            <a:endParaRPr lang="en-KE"/>
          </a:p>
        </p:txBody>
      </p:sp>
      <p:sp>
        <p:nvSpPr>
          <p:cNvPr id="5" name="Text 3"/>
          <p:cNvSpPr/>
          <p:nvPr/>
        </p:nvSpPr>
        <p:spPr>
          <a:xfrm>
            <a:off x="731520" y="1554480"/>
            <a:ext cx="3566160" cy="320040"/>
          </a:xfrm>
          <a:prstGeom prst="rect">
            <a:avLst/>
          </a:prstGeom>
          <a:noFill/>
          <a:ln/>
        </p:spPr>
        <p:txBody>
          <a:bodyPr wrap="square" lIns="0" tIns="0" rIns="0" bIns="0" rtlCol="0" anchor="ctr"/>
          <a:lstStyle/>
          <a:p>
            <a:pPr marL="0" indent="0">
              <a:buNone/>
            </a:pPr>
            <a:r>
              <a:rPr lang="en-US" sz="1500" b="1" dirty="0">
                <a:solidFill>
                  <a:srgbClr val="134E4A"/>
                </a:solidFill>
                <a:latin typeface="Trebuchet MS" pitchFamily="34" charset="0"/>
                <a:ea typeface="Trebuchet MS" pitchFamily="34" charset="-122"/>
                <a:cs typeface="Trebuchet MS" pitchFamily="34" charset="-120"/>
              </a:rPr>
              <a:t>The AI is defined as a routing engine</a:t>
            </a:r>
            <a:endParaRPr lang="en-US" sz="1500" dirty="0"/>
          </a:p>
        </p:txBody>
      </p:sp>
      <p:sp>
        <p:nvSpPr>
          <p:cNvPr id="6" name="Text 4"/>
          <p:cNvSpPr/>
          <p:nvPr/>
        </p:nvSpPr>
        <p:spPr>
          <a:xfrm>
            <a:off x="731520" y="1883664"/>
            <a:ext cx="3566160" cy="274320"/>
          </a:xfrm>
          <a:prstGeom prst="rect">
            <a:avLst/>
          </a:prstGeom>
          <a:noFill/>
          <a:ln/>
        </p:spPr>
        <p:txBody>
          <a:bodyPr wrap="square" lIns="0" tIns="0" rIns="0" bIns="0" rtlCol="0" anchor="ctr"/>
          <a:lstStyle/>
          <a:p>
            <a:pPr marL="0" indent="0">
              <a:buNone/>
            </a:pPr>
            <a:r>
              <a:rPr lang="en-US" sz="1250" i="1" dirty="0">
                <a:solidFill>
                  <a:srgbClr val="0F766E"/>
                </a:solidFill>
                <a:latin typeface="Calibri" pitchFamily="34" charset="0"/>
                <a:ea typeface="Calibri" pitchFamily="34" charset="-122"/>
                <a:cs typeface="Calibri" pitchFamily="34" charset="-120"/>
              </a:rPr>
              <a:t>Not a chatbot. Not a doctor.</a:t>
            </a:r>
            <a:endParaRPr lang="en-US" sz="1250" dirty="0"/>
          </a:p>
        </p:txBody>
      </p:sp>
      <p:sp>
        <p:nvSpPr>
          <p:cNvPr id="7" name="Shape 5"/>
          <p:cNvSpPr/>
          <p:nvPr/>
        </p:nvSpPr>
        <p:spPr>
          <a:xfrm>
            <a:off x="731520" y="2331720"/>
            <a:ext cx="310896" cy="310896"/>
          </a:xfrm>
          <a:prstGeom prst="ellipse">
            <a:avLst/>
          </a:prstGeom>
          <a:solidFill>
            <a:srgbClr val="0F766E"/>
          </a:solidFill>
          <a:ln/>
        </p:spPr>
        <p:txBody>
          <a:bodyPr/>
          <a:lstStyle/>
          <a:p>
            <a:endParaRPr lang="en-KE"/>
          </a:p>
        </p:txBody>
      </p:sp>
      <p:sp>
        <p:nvSpPr>
          <p:cNvPr id="8" name="Text 6"/>
          <p:cNvSpPr/>
          <p:nvPr/>
        </p:nvSpPr>
        <p:spPr>
          <a:xfrm>
            <a:off x="731520" y="232257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9" name="Text 7"/>
          <p:cNvSpPr/>
          <p:nvPr/>
        </p:nvSpPr>
        <p:spPr>
          <a:xfrm>
            <a:off x="1170432" y="2276856"/>
            <a:ext cx="3154680" cy="640080"/>
          </a:xfrm>
          <a:prstGeom prst="rect">
            <a:avLst/>
          </a:prstGeom>
          <a:noFill/>
          <a:ln/>
        </p:spPr>
        <p:txBody>
          <a:bodyPr wrap="square" lIns="0" tIns="0" rIns="0" bIns="0" rtlCol="0" anchor="ctr"/>
          <a:lstStyle/>
          <a:p>
            <a:pPr marL="0" indent="0">
              <a:lnSpc>
                <a:spcPct val="102000"/>
              </a:lnSpc>
              <a:buNone/>
            </a:pPr>
            <a:r>
              <a:rPr lang="en-US" sz="1200" dirty="0">
                <a:solidFill>
                  <a:srgbClr val="374151"/>
                </a:solidFill>
                <a:latin typeface="Calibri" pitchFamily="34" charset="0"/>
                <a:ea typeface="Calibri" pitchFamily="34" charset="-122"/>
                <a:cs typeface="Calibri" pitchFamily="34" charset="-120"/>
              </a:rPr>
              <a:t>It must follow four fixed reasoning steps before answering</a:t>
            </a:r>
            <a:endParaRPr lang="en-US" sz="1200" dirty="0"/>
          </a:p>
        </p:txBody>
      </p:sp>
      <p:sp>
        <p:nvSpPr>
          <p:cNvPr id="10" name="Shape 8"/>
          <p:cNvSpPr/>
          <p:nvPr/>
        </p:nvSpPr>
        <p:spPr>
          <a:xfrm>
            <a:off x="731520" y="3044952"/>
            <a:ext cx="310896" cy="310896"/>
          </a:xfrm>
          <a:prstGeom prst="ellipse">
            <a:avLst/>
          </a:prstGeom>
          <a:solidFill>
            <a:srgbClr val="0F766E"/>
          </a:solidFill>
          <a:ln/>
        </p:spPr>
        <p:txBody>
          <a:bodyPr/>
          <a:lstStyle/>
          <a:p>
            <a:endParaRPr lang="en-KE"/>
          </a:p>
        </p:txBody>
      </p:sp>
      <p:sp>
        <p:nvSpPr>
          <p:cNvPr id="11" name="Text 9"/>
          <p:cNvSpPr/>
          <p:nvPr/>
        </p:nvSpPr>
        <p:spPr>
          <a:xfrm>
            <a:off x="731520" y="30358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Text 10"/>
          <p:cNvSpPr/>
          <p:nvPr/>
        </p:nvSpPr>
        <p:spPr>
          <a:xfrm>
            <a:off x="1170432" y="2990088"/>
            <a:ext cx="3154680" cy="640080"/>
          </a:xfrm>
          <a:prstGeom prst="rect">
            <a:avLst/>
          </a:prstGeom>
          <a:noFill/>
          <a:ln/>
        </p:spPr>
        <p:txBody>
          <a:bodyPr wrap="square" lIns="0" tIns="0" rIns="0" bIns="0" rtlCol="0" anchor="ctr"/>
          <a:lstStyle/>
          <a:p>
            <a:pPr marL="0" indent="0">
              <a:lnSpc>
                <a:spcPct val="102000"/>
              </a:lnSpc>
              <a:buNone/>
            </a:pPr>
            <a:r>
              <a:rPr lang="en-US" sz="1200" dirty="0">
                <a:solidFill>
                  <a:srgbClr val="374151"/>
                </a:solidFill>
                <a:latin typeface="Calibri" pitchFamily="34" charset="0"/>
                <a:ea typeface="Calibri" pitchFamily="34" charset="-122"/>
                <a:cs typeface="Calibri" pitchFamily="34" charset="-120"/>
              </a:rPr>
              <a:t>Routing is locked to five fixed destinations — it cannot invent new ones</a:t>
            </a:r>
            <a:endParaRPr lang="en-US" sz="1200" dirty="0"/>
          </a:p>
        </p:txBody>
      </p:sp>
      <p:sp>
        <p:nvSpPr>
          <p:cNvPr id="13" name="Shape 11"/>
          <p:cNvSpPr/>
          <p:nvPr/>
        </p:nvSpPr>
        <p:spPr>
          <a:xfrm>
            <a:off x="731520" y="3758184"/>
            <a:ext cx="310896" cy="310896"/>
          </a:xfrm>
          <a:prstGeom prst="ellipse">
            <a:avLst/>
          </a:prstGeom>
          <a:solidFill>
            <a:srgbClr val="0F766E"/>
          </a:solidFill>
          <a:ln/>
        </p:spPr>
        <p:txBody>
          <a:bodyPr/>
          <a:lstStyle/>
          <a:p>
            <a:endParaRPr lang="en-KE"/>
          </a:p>
        </p:txBody>
      </p:sp>
      <p:sp>
        <p:nvSpPr>
          <p:cNvPr id="14" name="Text 12"/>
          <p:cNvSpPr/>
          <p:nvPr/>
        </p:nvSpPr>
        <p:spPr>
          <a:xfrm>
            <a:off x="731520" y="37490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5" name="Text 13"/>
          <p:cNvSpPr/>
          <p:nvPr/>
        </p:nvSpPr>
        <p:spPr>
          <a:xfrm>
            <a:off x="1170432" y="3703320"/>
            <a:ext cx="3154680" cy="640080"/>
          </a:xfrm>
          <a:prstGeom prst="rect">
            <a:avLst/>
          </a:prstGeom>
          <a:noFill/>
          <a:ln/>
        </p:spPr>
        <p:txBody>
          <a:bodyPr wrap="square" lIns="0" tIns="0" rIns="0" bIns="0" rtlCol="0" anchor="ctr"/>
          <a:lstStyle/>
          <a:p>
            <a:pPr marL="0" indent="0">
              <a:lnSpc>
                <a:spcPct val="102000"/>
              </a:lnSpc>
              <a:buNone/>
            </a:pPr>
            <a:r>
              <a:rPr lang="en-US" sz="1200" dirty="0">
                <a:solidFill>
                  <a:srgbClr val="374151"/>
                </a:solidFill>
                <a:latin typeface="Calibri" pitchFamily="34" charset="0"/>
                <a:ea typeface="Calibri" pitchFamily="34" charset="-122"/>
                <a:cs typeface="Calibri" pitchFamily="34" charset="-120"/>
              </a:rPr>
              <a:t>Output always follows one fixed structure the backend can read</a:t>
            </a:r>
            <a:endParaRPr lang="en-US" sz="1200" dirty="0"/>
          </a:p>
        </p:txBody>
      </p:sp>
      <p:sp>
        <p:nvSpPr>
          <p:cNvPr id="16" name="Shape 14"/>
          <p:cNvSpPr/>
          <p:nvPr/>
        </p:nvSpPr>
        <p:spPr>
          <a:xfrm>
            <a:off x="4663440" y="1371600"/>
            <a:ext cx="3977640" cy="3246120"/>
          </a:xfrm>
          <a:prstGeom prst="roundRect">
            <a:avLst>
              <a:gd name="adj" fmla="val 2254"/>
            </a:avLst>
          </a:prstGeom>
          <a:solidFill>
            <a:srgbClr val="FFFFFF"/>
          </a:solidFill>
          <a:ln w="12700">
            <a:solidFill>
              <a:srgbClr val="FED7AA"/>
            </a:solidFill>
            <a:prstDash val="solid"/>
          </a:ln>
          <a:effectLst>
            <a:outerShdw blurRad="101600" dist="25400" dir="5400000" algn="bl" rotWithShape="0">
              <a:srgbClr val="334155">
                <a:alpha val="12000"/>
              </a:srgbClr>
            </a:outerShdw>
          </a:effectLst>
        </p:spPr>
        <p:txBody>
          <a:bodyPr/>
          <a:lstStyle/>
          <a:p>
            <a:endParaRPr lang="en-KE"/>
          </a:p>
        </p:txBody>
      </p:sp>
      <p:sp>
        <p:nvSpPr>
          <p:cNvPr id="17" name="Text 15"/>
          <p:cNvSpPr/>
          <p:nvPr/>
        </p:nvSpPr>
        <p:spPr>
          <a:xfrm>
            <a:off x="4892040" y="1554480"/>
            <a:ext cx="3566160" cy="365760"/>
          </a:xfrm>
          <a:prstGeom prst="rect">
            <a:avLst/>
          </a:prstGeom>
          <a:noFill/>
          <a:ln/>
        </p:spPr>
        <p:txBody>
          <a:bodyPr wrap="square" lIns="0" tIns="0" rIns="0" bIns="0" rtlCol="0" anchor="ctr"/>
          <a:lstStyle/>
          <a:p>
            <a:pPr marL="0" indent="0">
              <a:buNone/>
            </a:pPr>
            <a:r>
              <a:rPr lang="en-US" sz="1500" b="1" dirty="0">
                <a:solidFill>
                  <a:srgbClr val="134E4A"/>
                </a:solidFill>
                <a:latin typeface="Trebuchet MS" pitchFamily="34" charset="0"/>
                <a:ea typeface="Trebuchet MS" pitchFamily="34" charset="-122"/>
                <a:cs typeface="Trebuchet MS" pitchFamily="34" charset="-120"/>
              </a:rPr>
              <a:t>Guardrails block the AI from:</a:t>
            </a:r>
            <a:endParaRPr lang="en-US" sz="1500" dirty="0"/>
          </a:p>
        </p:txBody>
      </p:sp>
      <p:sp>
        <p:nvSpPr>
          <p:cNvPr id="18" name="Shape 16"/>
          <p:cNvSpPr/>
          <p:nvPr/>
        </p:nvSpPr>
        <p:spPr>
          <a:xfrm>
            <a:off x="4892040" y="2084832"/>
            <a:ext cx="310896" cy="310896"/>
          </a:xfrm>
          <a:prstGeom prst="ellipse">
            <a:avLst/>
          </a:prstGeom>
          <a:solidFill>
            <a:srgbClr val="DC2626"/>
          </a:solidFill>
          <a:ln/>
        </p:spPr>
        <p:txBody>
          <a:bodyPr/>
          <a:lstStyle/>
          <a:p>
            <a:endParaRPr lang="en-KE"/>
          </a:p>
        </p:txBody>
      </p:sp>
      <p:sp>
        <p:nvSpPr>
          <p:cNvPr id="19" name="Text 17"/>
          <p:cNvSpPr/>
          <p:nvPr/>
        </p:nvSpPr>
        <p:spPr>
          <a:xfrm>
            <a:off x="4892040" y="207568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20" name="Text 18"/>
          <p:cNvSpPr/>
          <p:nvPr/>
        </p:nvSpPr>
        <p:spPr>
          <a:xfrm>
            <a:off x="5321808" y="2029968"/>
            <a:ext cx="3063240" cy="548640"/>
          </a:xfrm>
          <a:prstGeom prst="rect">
            <a:avLst/>
          </a:prstGeom>
          <a:noFill/>
          <a:ln/>
        </p:spPr>
        <p:txBody>
          <a:bodyPr wrap="square" lIns="0" tIns="0" rIns="0" bIns="0" rtlCol="0" anchor="ctr"/>
          <a:lstStyle/>
          <a:p>
            <a:pPr marL="0" indent="0">
              <a:lnSpc>
                <a:spcPct val="102000"/>
              </a:lnSpc>
              <a:buNone/>
            </a:pPr>
            <a:r>
              <a:rPr lang="en-US" sz="1250" dirty="0">
                <a:solidFill>
                  <a:srgbClr val="374151"/>
                </a:solidFill>
                <a:latin typeface="Calibri" pitchFamily="34" charset="0"/>
                <a:ea typeface="Calibri" pitchFamily="34" charset="-122"/>
                <a:cs typeface="Calibri" pitchFamily="34" charset="-120"/>
              </a:rPr>
              <a:t>Diagnosing diseases</a:t>
            </a:r>
            <a:endParaRPr lang="en-US" sz="1250" dirty="0"/>
          </a:p>
        </p:txBody>
      </p:sp>
      <p:sp>
        <p:nvSpPr>
          <p:cNvPr id="21" name="Shape 19"/>
          <p:cNvSpPr/>
          <p:nvPr/>
        </p:nvSpPr>
        <p:spPr>
          <a:xfrm>
            <a:off x="4892040" y="2688336"/>
            <a:ext cx="310896" cy="310896"/>
          </a:xfrm>
          <a:prstGeom prst="ellipse">
            <a:avLst/>
          </a:prstGeom>
          <a:solidFill>
            <a:srgbClr val="DC2626"/>
          </a:solidFill>
          <a:ln/>
        </p:spPr>
        <p:txBody>
          <a:bodyPr/>
          <a:lstStyle/>
          <a:p>
            <a:endParaRPr lang="en-KE"/>
          </a:p>
        </p:txBody>
      </p:sp>
      <p:sp>
        <p:nvSpPr>
          <p:cNvPr id="22" name="Text 20"/>
          <p:cNvSpPr/>
          <p:nvPr/>
        </p:nvSpPr>
        <p:spPr>
          <a:xfrm>
            <a:off x="4892040" y="267919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23" name="Text 21"/>
          <p:cNvSpPr/>
          <p:nvPr/>
        </p:nvSpPr>
        <p:spPr>
          <a:xfrm>
            <a:off x="5321808" y="2633472"/>
            <a:ext cx="3063240" cy="548640"/>
          </a:xfrm>
          <a:prstGeom prst="rect">
            <a:avLst/>
          </a:prstGeom>
          <a:noFill/>
          <a:ln/>
        </p:spPr>
        <p:txBody>
          <a:bodyPr wrap="square" lIns="0" tIns="0" rIns="0" bIns="0" rtlCol="0" anchor="ctr"/>
          <a:lstStyle/>
          <a:p>
            <a:pPr marL="0" indent="0">
              <a:lnSpc>
                <a:spcPct val="102000"/>
              </a:lnSpc>
              <a:buNone/>
            </a:pPr>
            <a:r>
              <a:rPr lang="en-US" sz="1250" dirty="0">
                <a:solidFill>
                  <a:srgbClr val="374151"/>
                </a:solidFill>
                <a:latin typeface="Calibri" pitchFamily="34" charset="0"/>
                <a:ea typeface="Calibri" pitchFamily="34" charset="-122"/>
                <a:cs typeface="Calibri" pitchFamily="34" charset="-120"/>
              </a:rPr>
              <a:t>Inventing symptoms the patient didn't mention</a:t>
            </a:r>
            <a:endParaRPr lang="en-US" sz="1250" dirty="0"/>
          </a:p>
        </p:txBody>
      </p:sp>
      <p:sp>
        <p:nvSpPr>
          <p:cNvPr id="24" name="Shape 22"/>
          <p:cNvSpPr/>
          <p:nvPr/>
        </p:nvSpPr>
        <p:spPr>
          <a:xfrm>
            <a:off x="4892040" y="3291840"/>
            <a:ext cx="310896" cy="310896"/>
          </a:xfrm>
          <a:prstGeom prst="ellipse">
            <a:avLst/>
          </a:prstGeom>
          <a:solidFill>
            <a:srgbClr val="DC2626"/>
          </a:solidFill>
          <a:ln/>
        </p:spPr>
        <p:txBody>
          <a:bodyPr/>
          <a:lstStyle/>
          <a:p>
            <a:endParaRPr lang="en-KE"/>
          </a:p>
        </p:txBody>
      </p:sp>
      <p:sp>
        <p:nvSpPr>
          <p:cNvPr id="25" name="Text 23"/>
          <p:cNvSpPr/>
          <p:nvPr/>
        </p:nvSpPr>
        <p:spPr>
          <a:xfrm>
            <a:off x="4892040" y="328269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26" name="Text 24"/>
          <p:cNvSpPr/>
          <p:nvPr/>
        </p:nvSpPr>
        <p:spPr>
          <a:xfrm>
            <a:off x="5321808" y="3236976"/>
            <a:ext cx="3063240" cy="548640"/>
          </a:xfrm>
          <a:prstGeom prst="rect">
            <a:avLst/>
          </a:prstGeom>
          <a:noFill/>
          <a:ln/>
        </p:spPr>
        <p:txBody>
          <a:bodyPr wrap="square" lIns="0" tIns="0" rIns="0" bIns="0" rtlCol="0" anchor="ctr"/>
          <a:lstStyle/>
          <a:p>
            <a:pPr marL="0" indent="0">
              <a:lnSpc>
                <a:spcPct val="102000"/>
              </a:lnSpc>
              <a:buNone/>
            </a:pPr>
            <a:r>
              <a:rPr lang="en-US" sz="1250" dirty="0">
                <a:solidFill>
                  <a:srgbClr val="374151"/>
                </a:solidFill>
                <a:latin typeface="Calibri" pitchFamily="34" charset="0"/>
                <a:ea typeface="Calibri" pitchFamily="34" charset="-122"/>
                <a:cs typeface="Calibri" pitchFamily="34" charset="-120"/>
              </a:rPr>
              <a:t>Giving treatment or medication advice</a:t>
            </a:r>
            <a:endParaRPr lang="en-US" sz="1250" dirty="0"/>
          </a:p>
        </p:txBody>
      </p:sp>
      <p:sp>
        <p:nvSpPr>
          <p:cNvPr id="27" name="Shape 25"/>
          <p:cNvSpPr/>
          <p:nvPr/>
        </p:nvSpPr>
        <p:spPr>
          <a:xfrm>
            <a:off x="4892040" y="3895344"/>
            <a:ext cx="310896" cy="310896"/>
          </a:xfrm>
          <a:prstGeom prst="ellipse">
            <a:avLst/>
          </a:prstGeom>
          <a:solidFill>
            <a:srgbClr val="DC2626"/>
          </a:solidFill>
          <a:ln/>
        </p:spPr>
        <p:txBody>
          <a:bodyPr/>
          <a:lstStyle/>
          <a:p>
            <a:endParaRPr lang="en-KE"/>
          </a:p>
        </p:txBody>
      </p:sp>
      <p:sp>
        <p:nvSpPr>
          <p:cNvPr id="28" name="Text 26"/>
          <p:cNvSpPr/>
          <p:nvPr/>
        </p:nvSpPr>
        <p:spPr>
          <a:xfrm>
            <a:off x="4892040" y="388620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29" name="Text 27"/>
          <p:cNvSpPr/>
          <p:nvPr/>
        </p:nvSpPr>
        <p:spPr>
          <a:xfrm>
            <a:off x="5321808" y="3840480"/>
            <a:ext cx="3063240" cy="548640"/>
          </a:xfrm>
          <a:prstGeom prst="rect">
            <a:avLst/>
          </a:prstGeom>
          <a:noFill/>
          <a:ln/>
        </p:spPr>
        <p:txBody>
          <a:bodyPr wrap="square" lIns="0" tIns="0" rIns="0" bIns="0" rtlCol="0" anchor="ctr"/>
          <a:lstStyle/>
          <a:p>
            <a:pPr marL="0" indent="0">
              <a:lnSpc>
                <a:spcPct val="102000"/>
              </a:lnSpc>
              <a:buNone/>
            </a:pPr>
            <a:r>
              <a:rPr lang="en-US" sz="1250" dirty="0">
                <a:solidFill>
                  <a:srgbClr val="374151"/>
                </a:solidFill>
                <a:latin typeface="Calibri" pitchFamily="34" charset="0"/>
                <a:ea typeface="Calibri" pitchFamily="34" charset="-122"/>
                <a:cs typeface="Calibri" pitchFamily="34" charset="-120"/>
              </a:rPr>
              <a:t>Adding greetings or conversational text</a:t>
            </a:r>
            <a:endParaRPr lang="en-US" sz="1250" dirty="0"/>
          </a:p>
        </p:txBody>
      </p:sp>
      <p:sp>
        <p:nvSpPr>
          <p:cNvPr id="30" name="Slide Number Placeholder 0"/>
          <p:cNvSpPr>
            <a:spLocks noGrp="1"/>
          </p:cNvSpPr>
          <p:nvPr>
            <p:ph type="sldNum" sz="quarter" idx="4294967295"/>
          </p:nvPr>
        </p:nvSpPr>
        <p:spPr>
          <a:xfrm>
            <a:off x="8366760" y="4828032"/>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256032"/>
            <a:ext cx="8138160" cy="658368"/>
          </a:xfrm>
          <a:prstGeom prst="rect">
            <a:avLst/>
          </a:prstGeom>
          <a:noFill/>
          <a:ln/>
        </p:spPr>
        <p:txBody>
          <a:bodyPr wrap="square" rtlCol="0" anchor="ctr"/>
          <a:lstStyle/>
          <a:p>
            <a:pPr marL="0" indent="0" algn="l">
              <a:buNone/>
            </a:pPr>
            <a:r>
              <a:rPr lang="en-US" sz="2600" b="1" dirty="0">
                <a:solidFill>
                  <a:srgbClr val="134E4A"/>
                </a:solidFill>
                <a:latin typeface="Trebuchet MS" pitchFamily="34" charset="0"/>
                <a:ea typeface="Trebuchet MS" pitchFamily="34" charset="-122"/>
                <a:cs typeface="Trebuchet MS" pitchFamily="34" charset="-120"/>
              </a:rPr>
              <a:t>What This Prototype Does NOT Do</a:t>
            </a:r>
            <a:endParaRPr lang="en-US" sz="2600" dirty="0"/>
          </a:p>
        </p:txBody>
      </p:sp>
      <p:sp>
        <p:nvSpPr>
          <p:cNvPr id="3" name="Shape 1"/>
          <p:cNvSpPr/>
          <p:nvPr/>
        </p:nvSpPr>
        <p:spPr>
          <a:xfrm>
            <a:off x="502920" y="1152144"/>
            <a:ext cx="128016" cy="457200"/>
          </a:xfrm>
          <a:prstGeom prst="rect">
            <a:avLst/>
          </a:prstGeom>
          <a:solidFill>
            <a:srgbClr val="EA580C"/>
          </a:solidFill>
          <a:ln/>
        </p:spPr>
        <p:txBody>
          <a:bodyPr/>
          <a:lstStyle/>
          <a:p>
            <a:endParaRPr lang="en-KE"/>
          </a:p>
        </p:txBody>
      </p:sp>
      <p:sp>
        <p:nvSpPr>
          <p:cNvPr id="4" name="Text 2"/>
          <p:cNvSpPr/>
          <p:nvPr/>
        </p:nvSpPr>
        <p:spPr>
          <a:xfrm>
            <a:off x="758952" y="1097280"/>
            <a:ext cx="3657600" cy="274320"/>
          </a:xfrm>
          <a:prstGeom prst="rect">
            <a:avLst/>
          </a:prstGeom>
          <a:noFill/>
          <a:ln/>
        </p:spPr>
        <p:txBody>
          <a:bodyPr wrap="square" lIns="0" tIns="0" rIns="0" bIns="0" rtlCol="0" anchor="ctr"/>
          <a:lstStyle/>
          <a:p>
            <a:pPr marL="0" indent="0">
              <a:buNone/>
            </a:pPr>
            <a:r>
              <a:rPr lang="en-US" sz="1350" b="1" dirty="0">
                <a:solidFill>
                  <a:srgbClr val="134E4A"/>
                </a:solidFill>
                <a:latin typeface="Trebuchet MS" pitchFamily="34" charset="0"/>
                <a:ea typeface="Trebuchet MS" pitchFamily="34" charset="-122"/>
                <a:cs typeface="Trebuchet MS" pitchFamily="34" charset="-120"/>
              </a:rPr>
              <a:t>Not medically approved</a:t>
            </a:r>
            <a:endParaRPr lang="en-US" sz="1350" dirty="0"/>
          </a:p>
        </p:txBody>
      </p:sp>
      <p:sp>
        <p:nvSpPr>
          <p:cNvPr id="5" name="Text 3"/>
          <p:cNvSpPr/>
          <p:nvPr/>
        </p:nvSpPr>
        <p:spPr>
          <a:xfrm>
            <a:off x="758952" y="1371600"/>
            <a:ext cx="3703320" cy="457200"/>
          </a:xfrm>
          <a:prstGeom prst="rect">
            <a:avLst/>
          </a:prstGeom>
          <a:noFill/>
          <a:ln/>
        </p:spPr>
        <p:txBody>
          <a:bodyPr wrap="square" lIns="0" tIns="0" rIns="0" bIns="0" rtlCol="0" anchor="t"/>
          <a:lstStyle/>
          <a:p>
            <a:pPr marL="0" indent="0">
              <a:lnSpc>
                <a:spcPct val="100000"/>
              </a:lnSpc>
              <a:buNone/>
            </a:pPr>
            <a:r>
              <a:rPr lang="en-US" sz="1150" dirty="0">
                <a:solidFill>
                  <a:srgbClr val="374151"/>
                </a:solidFill>
                <a:latin typeface="Calibri" pitchFamily="34" charset="0"/>
                <a:ea typeface="Calibri" pitchFamily="34" charset="-122"/>
                <a:cs typeface="Calibri" pitchFamily="34" charset="-120"/>
              </a:rPr>
              <a:t>It's a Week 1 prototype — not certified medical software.</a:t>
            </a:r>
            <a:endParaRPr lang="en-US" sz="1150" dirty="0"/>
          </a:p>
        </p:txBody>
      </p:sp>
      <p:sp>
        <p:nvSpPr>
          <p:cNvPr id="9" name="Shape 7"/>
          <p:cNvSpPr/>
          <p:nvPr/>
        </p:nvSpPr>
        <p:spPr>
          <a:xfrm>
            <a:off x="521208" y="2299716"/>
            <a:ext cx="128016" cy="457200"/>
          </a:xfrm>
          <a:prstGeom prst="rect">
            <a:avLst/>
          </a:prstGeom>
          <a:solidFill>
            <a:srgbClr val="EA580C"/>
          </a:solidFill>
          <a:ln/>
        </p:spPr>
        <p:txBody>
          <a:bodyPr/>
          <a:lstStyle/>
          <a:p>
            <a:endParaRPr lang="en-KE"/>
          </a:p>
        </p:txBody>
      </p:sp>
      <p:sp>
        <p:nvSpPr>
          <p:cNvPr id="10" name="Text 8"/>
          <p:cNvSpPr/>
          <p:nvPr/>
        </p:nvSpPr>
        <p:spPr>
          <a:xfrm>
            <a:off x="777240" y="2244852"/>
            <a:ext cx="3657600" cy="274320"/>
          </a:xfrm>
          <a:prstGeom prst="rect">
            <a:avLst/>
          </a:prstGeom>
          <a:noFill/>
          <a:ln/>
        </p:spPr>
        <p:txBody>
          <a:bodyPr wrap="square" lIns="0" tIns="0" rIns="0" bIns="0" rtlCol="0" anchor="ctr"/>
          <a:lstStyle/>
          <a:p>
            <a:pPr marL="0" indent="0">
              <a:buNone/>
            </a:pPr>
            <a:r>
              <a:rPr lang="en-US" sz="1350" b="1" dirty="0">
                <a:solidFill>
                  <a:srgbClr val="134E4A"/>
                </a:solidFill>
                <a:latin typeface="Trebuchet MS" pitchFamily="34" charset="0"/>
                <a:ea typeface="Trebuchet MS" pitchFamily="34" charset="-122"/>
                <a:cs typeface="Trebuchet MS" pitchFamily="34" charset="-120"/>
              </a:rPr>
              <a:t>Cloud use shares patient data</a:t>
            </a:r>
            <a:endParaRPr lang="en-US" sz="1350" dirty="0"/>
          </a:p>
        </p:txBody>
      </p:sp>
      <p:sp>
        <p:nvSpPr>
          <p:cNvPr id="11" name="Text 9"/>
          <p:cNvSpPr/>
          <p:nvPr/>
        </p:nvSpPr>
        <p:spPr>
          <a:xfrm>
            <a:off x="777240" y="2519172"/>
            <a:ext cx="3703320" cy="457200"/>
          </a:xfrm>
          <a:prstGeom prst="rect">
            <a:avLst/>
          </a:prstGeom>
          <a:noFill/>
          <a:ln/>
        </p:spPr>
        <p:txBody>
          <a:bodyPr wrap="square" lIns="0" tIns="0" rIns="0" bIns="0" rtlCol="0" anchor="t"/>
          <a:lstStyle/>
          <a:p>
            <a:pPr marL="0" indent="0">
              <a:lnSpc>
                <a:spcPct val="100000"/>
              </a:lnSpc>
              <a:buNone/>
            </a:pPr>
            <a:r>
              <a:rPr lang="en-US" sz="1150" dirty="0">
                <a:solidFill>
                  <a:srgbClr val="374151"/>
                </a:solidFill>
                <a:latin typeface="Calibri" pitchFamily="34" charset="0"/>
                <a:ea typeface="Calibri" pitchFamily="34" charset="-122"/>
                <a:cs typeface="Calibri" pitchFamily="34" charset="-120"/>
              </a:rPr>
              <a:t>When online, messages go to an outside AI service — a privacy issue to fix before launch.</a:t>
            </a:r>
            <a:endParaRPr lang="en-US" sz="1150" dirty="0"/>
          </a:p>
        </p:txBody>
      </p:sp>
      <p:sp>
        <p:nvSpPr>
          <p:cNvPr id="12" name="Shape 10"/>
          <p:cNvSpPr/>
          <p:nvPr/>
        </p:nvSpPr>
        <p:spPr>
          <a:xfrm>
            <a:off x="4709160" y="1152144"/>
            <a:ext cx="128016" cy="457200"/>
          </a:xfrm>
          <a:prstGeom prst="rect">
            <a:avLst/>
          </a:prstGeom>
          <a:solidFill>
            <a:srgbClr val="EA580C"/>
          </a:solidFill>
          <a:ln/>
        </p:spPr>
        <p:txBody>
          <a:bodyPr/>
          <a:lstStyle/>
          <a:p>
            <a:endParaRPr lang="en-KE"/>
          </a:p>
        </p:txBody>
      </p:sp>
      <p:sp>
        <p:nvSpPr>
          <p:cNvPr id="13" name="Text 11"/>
          <p:cNvSpPr/>
          <p:nvPr/>
        </p:nvSpPr>
        <p:spPr>
          <a:xfrm>
            <a:off x="4965192" y="1097280"/>
            <a:ext cx="3657600" cy="274320"/>
          </a:xfrm>
          <a:prstGeom prst="rect">
            <a:avLst/>
          </a:prstGeom>
          <a:noFill/>
          <a:ln/>
        </p:spPr>
        <p:txBody>
          <a:bodyPr wrap="square" lIns="0" tIns="0" rIns="0" bIns="0" rtlCol="0" anchor="ctr"/>
          <a:lstStyle/>
          <a:p>
            <a:pPr marL="0" indent="0">
              <a:buNone/>
            </a:pPr>
            <a:r>
              <a:rPr lang="en-US" sz="1350" b="1" dirty="0">
                <a:solidFill>
                  <a:srgbClr val="134E4A"/>
                </a:solidFill>
                <a:latin typeface="Trebuchet MS" pitchFamily="34" charset="0"/>
                <a:ea typeface="Trebuchet MS" pitchFamily="34" charset="-122"/>
                <a:cs typeface="Trebuchet MS" pitchFamily="34" charset="-120"/>
              </a:rPr>
              <a:t>No doctor checks it yet</a:t>
            </a:r>
            <a:endParaRPr lang="en-US" sz="1350" dirty="0"/>
          </a:p>
        </p:txBody>
      </p:sp>
      <p:sp>
        <p:nvSpPr>
          <p:cNvPr id="14" name="Text 12"/>
          <p:cNvSpPr/>
          <p:nvPr/>
        </p:nvSpPr>
        <p:spPr>
          <a:xfrm>
            <a:off x="4965192" y="1371600"/>
            <a:ext cx="3703320" cy="457200"/>
          </a:xfrm>
          <a:prstGeom prst="rect">
            <a:avLst/>
          </a:prstGeom>
          <a:noFill/>
          <a:ln/>
        </p:spPr>
        <p:txBody>
          <a:bodyPr wrap="square" lIns="0" tIns="0" rIns="0" bIns="0" rtlCol="0" anchor="t"/>
          <a:lstStyle/>
          <a:p>
            <a:pPr marL="0" indent="0">
              <a:lnSpc>
                <a:spcPct val="100000"/>
              </a:lnSpc>
              <a:buNone/>
            </a:pPr>
            <a:r>
              <a:rPr lang="en-US" sz="1150" dirty="0">
                <a:solidFill>
                  <a:srgbClr val="374151"/>
                </a:solidFill>
                <a:latin typeface="Calibri" pitchFamily="34" charset="0"/>
                <a:ea typeface="Calibri" pitchFamily="34" charset="-122"/>
                <a:cs typeface="Calibri" pitchFamily="34" charset="-120"/>
              </a:rPr>
              <a:t>Urgent cases still need a human to review — nothing catches a wrong decision today.</a:t>
            </a:r>
            <a:endParaRPr lang="en-US" sz="1150" dirty="0"/>
          </a:p>
        </p:txBody>
      </p:sp>
      <p:sp>
        <p:nvSpPr>
          <p:cNvPr id="18" name="Shape 16"/>
          <p:cNvSpPr/>
          <p:nvPr/>
        </p:nvSpPr>
        <p:spPr>
          <a:xfrm>
            <a:off x="4727448" y="2299716"/>
            <a:ext cx="128016" cy="457200"/>
          </a:xfrm>
          <a:prstGeom prst="rect">
            <a:avLst/>
          </a:prstGeom>
          <a:solidFill>
            <a:srgbClr val="EA580C"/>
          </a:solidFill>
          <a:ln/>
        </p:spPr>
        <p:txBody>
          <a:bodyPr/>
          <a:lstStyle/>
          <a:p>
            <a:endParaRPr lang="en-KE"/>
          </a:p>
        </p:txBody>
      </p:sp>
      <p:sp>
        <p:nvSpPr>
          <p:cNvPr id="19" name="Text 17"/>
          <p:cNvSpPr/>
          <p:nvPr/>
        </p:nvSpPr>
        <p:spPr>
          <a:xfrm>
            <a:off x="4983480" y="2244852"/>
            <a:ext cx="3657600" cy="274320"/>
          </a:xfrm>
          <a:prstGeom prst="rect">
            <a:avLst/>
          </a:prstGeom>
          <a:noFill/>
          <a:ln/>
        </p:spPr>
        <p:txBody>
          <a:bodyPr wrap="square" lIns="0" tIns="0" rIns="0" bIns="0" rtlCol="0" anchor="ctr"/>
          <a:lstStyle/>
          <a:p>
            <a:pPr marL="0" indent="0">
              <a:buNone/>
            </a:pPr>
            <a:r>
              <a:rPr lang="en-US" sz="1350" b="1" dirty="0">
                <a:solidFill>
                  <a:srgbClr val="134E4A"/>
                </a:solidFill>
                <a:latin typeface="Trebuchet MS" pitchFamily="34" charset="0"/>
                <a:ea typeface="Trebuchet MS" pitchFamily="34" charset="-122"/>
                <a:cs typeface="Trebuchet MS" pitchFamily="34" charset="-120"/>
              </a:rPr>
              <a:t>Not for emergencies alone</a:t>
            </a:r>
            <a:endParaRPr lang="en-US" sz="1350" dirty="0"/>
          </a:p>
        </p:txBody>
      </p:sp>
      <p:sp>
        <p:nvSpPr>
          <p:cNvPr id="20" name="Text 18"/>
          <p:cNvSpPr/>
          <p:nvPr/>
        </p:nvSpPr>
        <p:spPr>
          <a:xfrm>
            <a:off x="4983480" y="2519172"/>
            <a:ext cx="3703320" cy="457200"/>
          </a:xfrm>
          <a:prstGeom prst="rect">
            <a:avLst/>
          </a:prstGeom>
          <a:noFill/>
          <a:ln/>
        </p:spPr>
        <p:txBody>
          <a:bodyPr wrap="square" lIns="0" tIns="0" rIns="0" bIns="0" rtlCol="0" anchor="t"/>
          <a:lstStyle/>
          <a:p>
            <a:pPr marL="0" indent="0">
              <a:lnSpc>
                <a:spcPct val="100000"/>
              </a:lnSpc>
              <a:buNone/>
            </a:pPr>
            <a:r>
              <a:rPr lang="en-US" sz="1150" dirty="0">
                <a:solidFill>
                  <a:srgbClr val="374151"/>
                </a:solidFill>
                <a:latin typeface="Calibri" pitchFamily="34" charset="0"/>
                <a:ea typeface="Calibri" pitchFamily="34" charset="-122"/>
                <a:cs typeface="Calibri" pitchFamily="34" charset="-120"/>
              </a:rPr>
              <a:t>It should never dispatch an emergency without a person overseeing it.</a:t>
            </a:r>
            <a:endParaRPr lang="en-US" sz="1150" dirty="0"/>
          </a:p>
        </p:txBody>
      </p:sp>
      <p:sp>
        <p:nvSpPr>
          <p:cNvPr id="21" name="Shape 19"/>
          <p:cNvSpPr/>
          <p:nvPr/>
        </p:nvSpPr>
        <p:spPr>
          <a:xfrm>
            <a:off x="484632" y="3621024"/>
            <a:ext cx="8138160" cy="1143000"/>
          </a:xfrm>
          <a:prstGeom prst="roundRect">
            <a:avLst>
              <a:gd name="adj" fmla="val 7200"/>
            </a:avLst>
          </a:prstGeom>
          <a:solidFill>
            <a:srgbClr val="FFF7ED"/>
          </a:solidFill>
          <a:ln w="19050">
            <a:solidFill>
              <a:srgbClr val="EA580C"/>
            </a:solidFill>
            <a:prstDash val="solid"/>
          </a:ln>
          <a:effectLst>
            <a:outerShdw blurRad="101600" dist="25400" dir="5400000" algn="bl" rotWithShape="0">
              <a:srgbClr val="334155">
                <a:alpha val="12000"/>
              </a:srgbClr>
            </a:outerShdw>
          </a:effectLst>
        </p:spPr>
        <p:txBody>
          <a:bodyPr/>
          <a:lstStyle/>
          <a:p>
            <a:endParaRPr lang="en-KE"/>
          </a:p>
        </p:txBody>
      </p:sp>
      <p:sp>
        <p:nvSpPr>
          <p:cNvPr id="22" name="Text 20"/>
          <p:cNvSpPr/>
          <p:nvPr/>
        </p:nvSpPr>
        <p:spPr>
          <a:xfrm>
            <a:off x="777240" y="3767328"/>
            <a:ext cx="3657600" cy="274320"/>
          </a:xfrm>
          <a:prstGeom prst="rect">
            <a:avLst/>
          </a:prstGeom>
          <a:noFill/>
          <a:ln/>
        </p:spPr>
        <p:txBody>
          <a:bodyPr wrap="square" lIns="0" tIns="0" rIns="0" bIns="0" rtlCol="0" anchor="ctr"/>
          <a:lstStyle/>
          <a:p>
            <a:pPr marL="0" indent="0">
              <a:buNone/>
            </a:pPr>
            <a:r>
              <a:rPr lang="en-US" sz="1100" b="1" kern="0" spc="200" dirty="0">
                <a:solidFill>
                  <a:srgbClr val="EA580C"/>
                </a:solidFill>
                <a:latin typeface="Calibri" pitchFamily="34" charset="0"/>
                <a:ea typeface="Calibri" pitchFamily="34" charset="-122"/>
                <a:cs typeface="Calibri" pitchFamily="34" charset="-120"/>
              </a:rPr>
              <a:t>HONEST ASSESSMENT</a:t>
            </a:r>
            <a:endParaRPr lang="en-US" sz="1100" dirty="0"/>
          </a:p>
        </p:txBody>
      </p:sp>
      <p:sp>
        <p:nvSpPr>
          <p:cNvPr id="23" name="Text 21"/>
          <p:cNvSpPr/>
          <p:nvPr/>
        </p:nvSpPr>
        <p:spPr>
          <a:xfrm>
            <a:off x="777240" y="4059936"/>
            <a:ext cx="7589520" cy="640080"/>
          </a:xfrm>
          <a:prstGeom prst="rect">
            <a:avLst/>
          </a:prstGeom>
          <a:noFill/>
          <a:ln/>
        </p:spPr>
        <p:txBody>
          <a:bodyPr wrap="square" lIns="0" tIns="0" rIns="0" bIns="0" rtlCol="0" anchor="t"/>
          <a:lstStyle/>
          <a:p>
            <a:pPr marL="0" indent="0">
              <a:lnSpc>
                <a:spcPct val="103000"/>
              </a:lnSpc>
              <a:buNone/>
            </a:pPr>
            <a:r>
              <a:rPr lang="en-US" sz="1400" b="1" dirty="0">
                <a:solidFill>
                  <a:srgbClr val="7C2D12"/>
                </a:solidFill>
                <a:latin typeface="Calibri" pitchFamily="34" charset="0"/>
                <a:ea typeface="Calibri" pitchFamily="34" charset="-122"/>
                <a:cs typeface="Calibri" pitchFamily="34" charset="-120"/>
              </a:rPr>
              <a:t>This proves the system works. </a:t>
            </a:r>
            <a:r>
              <a:rPr lang="en-US" sz="1400" dirty="0">
                <a:solidFill>
                  <a:srgbClr val="7C2D12"/>
                </a:solidFill>
                <a:latin typeface="Calibri" pitchFamily="34" charset="0"/>
                <a:ea typeface="Calibri" pitchFamily="34" charset="-122"/>
                <a:cs typeface="Calibri" pitchFamily="34" charset="-120"/>
              </a:rPr>
              <a:t>Before real use it needs medical sign-off, a record of every decision, and a required human check for every emergency.</a:t>
            </a:r>
            <a:endParaRPr lang="en-US" sz="1400" dirty="0"/>
          </a:p>
        </p:txBody>
      </p:sp>
      <p:sp>
        <p:nvSpPr>
          <p:cNvPr id="25" name="Slide Number Placeholder 0"/>
          <p:cNvSpPr>
            <a:spLocks noGrp="1"/>
          </p:cNvSpPr>
          <p:nvPr>
            <p:ph type="sldNum" sz="quarter" idx="4294967295"/>
          </p:nvPr>
        </p:nvSpPr>
        <p:spPr>
          <a:xfrm>
            <a:off x="8366760" y="4828032"/>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02920" y="256032"/>
            <a:ext cx="8138160" cy="658368"/>
          </a:xfrm>
          <a:prstGeom prst="rect">
            <a:avLst/>
          </a:prstGeom>
          <a:noFill/>
          <a:ln/>
        </p:spPr>
        <p:txBody>
          <a:bodyPr wrap="square" rtlCol="0" anchor="ctr"/>
          <a:lstStyle/>
          <a:p>
            <a:pPr marL="0" indent="0" algn="l">
              <a:buNone/>
            </a:pPr>
            <a:r>
              <a:rPr lang="en-US" sz="2600" b="1" dirty="0">
                <a:solidFill>
                  <a:srgbClr val="134E4A"/>
                </a:solidFill>
                <a:latin typeface="Trebuchet MS" pitchFamily="34" charset="0"/>
                <a:ea typeface="Trebuchet MS" pitchFamily="34" charset="-122"/>
                <a:cs typeface="Trebuchet MS" pitchFamily="34" charset="-120"/>
              </a:rPr>
              <a:t>What We Proved — And What's Next</a:t>
            </a:r>
            <a:endParaRPr lang="en-US" sz="2600" dirty="0"/>
          </a:p>
        </p:txBody>
      </p:sp>
      <p:sp>
        <p:nvSpPr>
          <p:cNvPr id="3" name="Text 1"/>
          <p:cNvSpPr/>
          <p:nvPr/>
        </p:nvSpPr>
        <p:spPr>
          <a:xfrm>
            <a:off x="502920" y="1024128"/>
            <a:ext cx="3931920" cy="274320"/>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WHAT WE PROVED</a:t>
            </a:r>
            <a:endParaRPr lang="en-US" sz="1200" dirty="0"/>
          </a:p>
        </p:txBody>
      </p:sp>
      <p:sp>
        <p:nvSpPr>
          <p:cNvPr id="4" name="Shape 2"/>
          <p:cNvSpPr/>
          <p:nvPr/>
        </p:nvSpPr>
        <p:spPr>
          <a:xfrm>
            <a:off x="521208" y="1371600"/>
            <a:ext cx="292608" cy="292608"/>
          </a:xfrm>
          <a:prstGeom prst="ellipse">
            <a:avLst/>
          </a:prstGeom>
          <a:solidFill>
            <a:srgbClr val="0E9F6E"/>
          </a:solidFill>
          <a:ln/>
        </p:spPr>
        <p:txBody>
          <a:bodyPr/>
          <a:lstStyle/>
          <a:p>
            <a:endParaRPr lang="en-KE"/>
          </a:p>
        </p:txBody>
      </p:sp>
      <p:sp>
        <p:nvSpPr>
          <p:cNvPr id="5" name="Text 3"/>
          <p:cNvSpPr/>
          <p:nvPr/>
        </p:nvSpPr>
        <p:spPr>
          <a:xfrm>
            <a:off x="521208" y="136245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6" name="Text 4"/>
          <p:cNvSpPr/>
          <p:nvPr/>
        </p:nvSpPr>
        <p:spPr>
          <a:xfrm>
            <a:off x="932688" y="1325880"/>
            <a:ext cx="3520440"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Working end-to-end triage pipeline</a:t>
            </a:r>
            <a:endParaRPr lang="en-US" sz="1250" dirty="0"/>
          </a:p>
        </p:txBody>
      </p:sp>
      <p:sp>
        <p:nvSpPr>
          <p:cNvPr id="7" name="Shape 5"/>
          <p:cNvSpPr/>
          <p:nvPr/>
        </p:nvSpPr>
        <p:spPr>
          <a:xfrm>
            <a:off x="521208" y="1874520"/>
            <a:ext cx="292608" cy="292608"/>
          </a:xfrm>
          <a:prstGeom prst="ellipse">
            <a:avLst/>
          </a:prstGeom>
          <a:solidFill>
            <a:srgbClr val="0E9F6E"/>
          </a:solidFill>
          <a:ln/>
        </p:spPr>
        <p:txBody>
          <a:bodyPr/>
          <a:lstStyle/>
          <a:p>
            <a:endParaRPr lang="en-KE"/>
          </a:p>
        </p:txBody>
      </p:sp>
      <p:sp>
        <p:nvSpPr>
          <p:cNvPr id="8" name="Text 6"/>
          <p:cNvSpPr/>
          <p:nvPr/>
        </p:nvSpPr>
        <p:spPr>
          <a:xfrm>
            <a:off x="521208" y="186537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9" name="Text 7"/>
          <p:cNvSpPr/>
          <p:nvPr/>
        </p:nvSpPr>
        <p:spPr>
          <a:xfrm>
            <a:off x="932688" y="1828800"/>
            <a:ext cx="3520440"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Cloud + local fallback resilience demonstrated</a:t>
            </a:r>
            <a:endParaRPr lang="en-US" sz="1250" dirty="0"/>
          </a:p>
        </p:txBody>
      </p:sp>
      <p:sp>
        <p:nvSpPr>
          <p:cNvPr id="10" name="Shape 8"/>
          <p:cNvSpPr/>
          <p:nvPr/>
        </p:nvSpPr>
        <p:spPr>
          <a:xfrm>
            <a:off x="521208" y="2377440"/>
            <a:ext cx="292608" cy="292608"/>
          </a:xfrm>
          <a:prstGeom prst="ellipse">
            <a:avLst/>
          </a:prstGeom>
          <a:solidFill>
            <a:srgbClr val="0E9F6E"/>
          </a:solidFill>
          <a:ln/>
        </p:spPr>
        <p:txBody>
          <a:bodyPr/>
          <a:lstStyle/>
          <a:p>
            <a:endParaRPr lang="en-KE"/>
          </a:p>
        </p:txBody>
      </p:sp>
      <p:sp>
        <p:nvSpPr>
          <p:cNvPr id="11" name="Text 9"/>
          <p:cNvSpPr/>
          <p:nvPr/>
        </p:nvSpPr>
        <p:spPr>
          <a:xfrm>
            <a:off x="521208" y="236829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Text 10"/>
          <p:cNvSpPr/>
          <p:nvPr/>
        </p:nvSpPr>
        <p:spPr>
          <a:xfrm>
            <a:off x="932688" y="2331720"/>
            <a:ext cx="3520440"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Structured output produced every time</a:t>
            </a:r>
            <a:endParaRPr lang="en-US" sz="1250" dirty="0"/>
          </a:p>
        </p:txBody>
      </p:sp>
      <p:sp>
        <p:nvSpPr>
          <p:cNvPr id="13" name="Shape 11"/>
          <p:cNvSpPr/>
          <p:nvPr/>
        </p:nvSpPr>
        <p:spPr>
          <a:xfrm>
            <a:off x="521208" y="2880360"/>
            <a:ext cx="292608" cy="292608"/>
          </a:xfrm>
          <a:prstGeom prst="ellipse">
            <a:avLst/>
          </a:prstGeom>
          <a:solidFill>
            <a:srgbClr val="0E9F6E"/>
          </a:solidFill>
          <a:ln/>
        </p:spPr>
        <p:txBody>
          <a:bodyPr/>
          <a:lstStyle/>
          <a:p>
            <a:endParaRPr lang="en-KE"/>
          </a:p>
        </p:txBody>
      </p:sp>
      <p:sp>
        <p:nvSpPr>
          <p:cNvPr id="14" name="Text 12"/>
          <p:cNvSpPr/>
          <p:nvPr/>
        </p:nvSpPr>
        <p:spPr>
          <a:xfrm>
            <a:off x="521208" y="287121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5" name="Text 13"/>
          <p:cNvSpPr/>
          <p:nvPr/>
        </p:nvSpPr>
        <p:spPr>
          <a:xfrm>
            <a:off x="932688" y="2834640"/>
            <a:ext cx="3520440"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Guardrails reduced fluff and hallucinations</a:t>
            </a:r>
            <a:endParaRPr lang="en-US" sz="1250" dirty="0"/>
          </a:p>
        </p:txBody>
      </p:sp>
      <p:sp>
        <p:nvSpPr>
          <p:cNvPr id="16" name="Shape 14"/>
          <p:cNvSpPr/>
          <p:nvPr/>
        </p:nvSpPr>
        <p:spPr>
          <a:xfrm>
            <a:off x="521208" y="3383280"/>
            <a:ext cx="292608" cy="292608"/>
          </a:xfrm>
          <a:prstGeom prst="ellipse">
            <a:avLst/>
          </a:prstGeom>
          <a:solidFill>
            <a:srgbClr val="0E9F6E"/>
          </a:solidFill>
          <a:ln/>
        </p:spPr>
        <p:txBody>
          <a:bodyPr/>
          <a:lstStyle/>
          <a:p>
            <a:endParaRPr lang="en-KE"/>
          </a:p>
        </p:txBody>
      </p:sp>
      <p:sp>
        <p:nvSpPr>
          <p:cNvPr id="17" name="Text 15"/>
          <p:cNvSpPr/>
          <p:nvPr/>
        </p:nvSpPr>
        <p:spPr>
          <a:xfrm>
            <a:off x="521208" y="33741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8" name="Text 16"/>
          <p:cNvSpPr/>
          <p:nvPr/>
        </p:nvSpPr>
        <p:spPr>
          <a:xfrm>
            <a:off x="932688" y="3337560"/>
            <a:ext cx="3520440"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Latency baseline documented (cloud ~3s, local ~7s)</a:t>
            </a:r>
            <a:endParaRPr lang="en-US" sz="1250" dirty="0"/>
          </a:p>
        </p:txBody>
      </p:sp>
      <p:sp>
        <p:nvSpPr>
          <p:cNvPr id="19" name="Text 17"/>
          <p:cNvSpPr/>
          <p:nvPr/>
        </p:nvSpPr>
        <p:spPr>
          <a:xfrm>
            <a:off x="4709160" y="1024128"/>
            <a:ext cx="3931920" cy="274320"/>
          </a:xfrm>
          <a:prstGeom prst="rect">
            <a:avLst/>
          </a:prstGeom>
          <a:noFill/>
          <a:ln/>
        </p:spPr>
        <p:txBody>
          <a:bodyPr wrap="square" lIns="0" tIns="0" rIns="0" bIns="0" rtlCol="0" anchor="ctr"/>
          <a:lstStyle/>
          <a:p>
            <a:pPr marL="0" indent="0">
              <a:buNone/>
            </a:pPr>
            <a:r>
              <a:rPr lang="en-US" sz="1200" b="1" kern="0" spc="200" dirty="0">
                <a:solidFill>
                  <a:srgbClr val="EA580C"/>
                </a:solidFill>
                <a:latin typeface="Calibri" pitchFamily="34" charset="0"/>
                <a:ea typeface="Calibri" pitchFamily="34" charset="-122"/>
                <a:cs typeface="Calibri" pitchFamily="34" charset="-120"/>
              </a:rPr>
              <a:t>NEXT STEPS</a:t>
            </a:r>
            <a:endParaRPr lang="en-US" sz="1200" dirty="0"/>
          </a:p>
        </p:txBody>
      </p:sp>
      <p:sp>
        <p:nvSpPr>
          <p:cNvPr id="20" name="Shape 18"/>
          <p:cNvSpPr/>
          <p:nvPr/>
        </p:nvSpPr>
        <p:spPr>
          <a:xfrm>
            <a:off x="4727448" y="1371600"/>
            <a:ext cx="292608" cy="292608"/>
          </a:xfrm>
          <a:prstGeom prst="ellipse">
            <a:avLst/>
          </a:prstGeom>
          <a:solidFill>
            <a:srgbClr val="0F766E"/>
          </a:solidFill>
          <a:ln/>
        </p:spPr>
        <p:txBody>
          <a:bodyPr/>
          <a:lstStyle/>
          <a:p>
            <a:endParaRPr lang="en-KE"/>
          </a:p>
        </p:txBody>
      </p:sp>
      <p:sp>
        <p:nvSpPr>
          <p:cNvPr id="21" name="Text 19"/>
          <p:cNvSpPr/>
          <p:nvPr/>
        </p:nvSpPr>
        <p:spPr>
          <a:xfrm>
            <a:off x="4727448" y="136245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22" name="Text 20"/>
          <p:cNvSpPr/>
          <p:nvPr/>
        </p:nvSpPr>
        <p:spPr>
          <a:xfrm>
            <a:off x="5138928" y="1325880"/>
            <a:ext cx="3502152"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Clinical validation with medical advisors</a:t>
            </a:r>
            <a:endParaRPr lang="en-US" sz="1250" dirty="0"/>
          </a:p>
        </p:txBody>
      </p:sp>
      <p:sp>
        <p:nvSpPr>
          <p:cNvPr id="23" name="Shape 21"/>
          <p:cNvSpPr/>
          <p:nvPr/>
        </p:nvSpPr>
        <p:spPr>
          <a:xfrm>
            <a:off x="4727448" y="1874520"/>
            <a:ext cx="292608" cy="292608"/>
          </a:xfrm>
          <a:prstGeom prst="ellipse">
            <a:avLst/>
          </a:prstGeom>
          <a:solidFill>
            <a:srgbClr val="0F766E"/>
          </a:solidFill>
          <a:ln/>
        </p:spPr>
        <p:txBody>
          <a:bodyPr/>
          <a:lstStyle/>
          <a:p>
            <a:endParaRPr lang="en-KE"/>
          </a:p>
        </p:txBody>
      </p:sp>
      <p:sp>
        <p:nvSpPr>
          <p:cNvPr id="24" name="Text 22"/>
          <p:cNvSpPr/>
          <p:nvPr/>
        </p:nvSpPr>
        <p:spPr>
          <a:xfrm>
            <a:off x="4727448" y="186537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25" name="Text 23"/>
          <p:cNvSpPr/>
          <p:nvPr/>
        </p:nvSpPr>
        <p:spPr>
          <a:xfrm>
            <a:off x="5138928" y="1828800"/>
            <a:ext cx="3502152"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Human-in-the-loop review for critical cases</a:t>
            </a:r>
            <a:endParaRPr lang="en-US" sz="1250" dirty="0"/>
          </a:p>
        </p:txBody>
      </p:sp>
      <p:sp>
        <p:nvSpPr>
          <p:cNvPr id="26" name="Shape 24"/>
          <p:cNvSpPr/>
          <p:nvPr/>
        </p:nvSpPr>
        <p:spPr>
          <a:xfrm>
            <a:off x="4727448" y="2377440"/>
            <a:ext cx="292608" cy="292608"/>
          </a:xfrm>
          <a:prstGeom prst="ellipse">
            <a:avLst/>
          </a:prstGeom>
          <a:solidFill>
            <a:srgbClr val="0F766E"/>
          </a:solidFill>
          <a:ln/>
        </p:spPr>
        <p:txBody>
          <a:bodyPr/>
          <a:lstStyle/>
          <a:p>
            <a:endParaRPr lang="en-KE"/>
          </a:p>
        </p:txBody>
      </p:sp>
      <p:sp>
        <p:nvSpPr>
          <p:cNvPr id="27" name="Text 25"/>
          <p:cNvSpPr/>
          <p:nvPr/>
        </p:nvSpPr>
        <p:spPr>
          <a:xfrm>
            <a:off x="4727448" y="236829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28" name="Text 26"/>
          <p:cNvSpPr/>
          <p:nvPr/>
        </p:nvSpPr>
        <p:spPr>
          <a:xfrm>
            <a:off x="5138928" y="2331720"/>
            <a:ext cx="3502152"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Audit logging for every triage decision</a:t>
            </a:r>
            <a:endParaRPr lang="en-US" sz="1250" dirty="0"/>
          </a:p>
        </p:txBody>
      </p:sp>
      <p:sp>
        <p:nvSpPr>
          <p:cNvPr id="29" name="Shape 27"/>
          <p:cNvSpPr/>
          <p:nvPr/>
        </p:nvSpPr>
        <p:spPr>
          <a:xfrm>
            <a:off x="4727448" y="2880360"/>
            <a:ext cx="292608" cy="292608"/>
          </a:xfrm>
          <a:prstGeom prst="ellipse">
            <a:avLst/>
          </a:prstGeom>
          <a:solidFill>
            <a:srgbClr val="0F766E"/>
          </a:solidFill>
          <a:ln/>
        </p:spPr>
        <p:txBody>
          <a:bodyPr/>
          <a:lstStyle/>
          <a:p>
            <a:endParaRPr lang="en-KE"/>
          </a:p>
        </p:txBody>
      </p:sp>
      <p:sp>
        <p:nvSpPr>
          <p:cNvPr id="30" name="Text 28"/>
          <p:cNvSpPr/>
          <p:nvPr/>
        </p:nvSpPr>
        <p:spPr>
          <a:xfrm>
            <a:off x="4727448" y="287121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31" name="Text 29"/>
          <p:cNvSpPr/>
          <p:nvPr/>
        </p:nvSpPr>
        <p:spPr>
          <a:xfrm>
            <a:off x="5138928" y="2834640"/>
            <a:ext cx="3502152"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Kenya Data Protection Act compliance review</a:t>
            </a:r>
            <a:endParaRPr lang="en-US" sz="1250" dirty="0"/>
          </a:p>
        </p:txBody>
      </p:sp>
      <p:sp>
        <p:nvSpPr>
          <p:cNvPr id="32" name="Shape 30"/>
          <p:cNvSpPr/>
          <p:nvPr/>
        </p:nvSpPr>
        <p:spPr>
          <a:xfrm>
            <a:off x="4727448" y="3383280"/>
            <a:ext cx="292608" cy="292608"/>
          </a:xfrm>
          <a:prstGeom prst="ellipse">
            <a:avLst/>
          </a:prstGeom>
          <a:solidFill>
            <a:srgbClr val="0F766E"/>
          </a:solidFill>
          <a:ln/>
        </p:spPr>
        <p:txBody>
          <a:bodyPr/>
          <a:lstStyle/>
          <a:p>
            <a:endParaRPr lang="en-KE"/>
          </a:p>
        </p:txBody>
      </p:sp>
      <p:sp>
        <p:nvSpPr>
          <p:cNvPr id="33" name="Text 31"/>
          <p:cNvSpPr/>
          <p:nvPr/>
        </p:nvSpPr>
        <p:spPr>
          <a:xfrm>
            <a:off x="4727448" y="33741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34" name="Text 32"/>
          <p:cNvSpPr/>
          <p:nvPr/>
        </p:nvSpPr>
        <p:spPr>
          <a:xfrm>
            <a:off x="5138928" y="3337560"/>
            <a:ext cx="3502152" cy="457200"/>
          </a:xfrm>
          <a:prstGeom prst="rect">
            <a:avLst/>
          </a:prstGeom>
          <a:noFill/>
          <a:ln/>
        </p:spPr>
        <p:txBody>
          <a:bodyPr wrap="square" lIns="0" tIns="0" rIns="0" bIns="0" rtlCol="0" anchor="ctr"/>
          <a:lstStyle/>
          <a:p>
            <a:pPr marL="0" indent="0">
              <a:lnSpc>
                <a:spcPct val="100000"/>
              </a:lnSpc>
              <a:buNone/>
            </a:pPr>
            <a:r>
              <a:rPr lang="en-US" sz="1250" dirty="0">
                <a:solidFill>
                  <a:srgbClr val="374151"/>
                </a:solidFill>
                <a:latin typeface="Calibri" pitchFamily="34" charset="0"/>
                <a:ea typeface="Calibri" pitchFamily="34" charset="-122"/>
                <a:cs typeface="Calibri" pitchFamily="34" charset="-120"/>
              </a:rPr>
              <a:t>Integration with AfyaPlus helpline (+254-XXX-XXXX)</a:t>
            </a:r>
            <a:endParaRPr lang="en-US" sz="1250" dirty="0"/>
          </a:p>
        </p:txBody>
      </p:sp>
      <p:pic>
        <p:nvPicPr>
          <p:cNvPr id="35" name="Image 0" descr="Abstract teal healthcare safety waves with a shield emblem"/>
          <p:cNvPicPr>
            <a:picLocks noChangeAspect="1"/>
          </p:cNvPicPr>
          <p:nvPr/>
        </p:nvPicPr>
        <p:blipFill>
          <a:blip r:embed="rId3"/>
          <a:srcRect t="40424" b="40424"/>
          <a:stretch/>
        </p:blipFill>
        <p:spPr>
          <a:xfrm>
            <a:off x="0" y="4224528"/>
            <a:ext cx="9144000" cy="918972"/>
          </a:xfrm>
          <a:prstGeom prst="rect">
            <a:avLst/>
          </a:prstGeom>
        </p:spPr>
      </p:pic>
      <p:sp>
        <p:nvSpPr>
          <p:cNvPr id="36" name="Shape 33"/>
          <p:cNvSpPr/>
          <p:nvPr/>
        </p:nvSpPr>
        <p:spPr>
          <a:xfrm>
            <a:off x="0" y="4224528"/>
            <a:ext cx="9144000" cy="918972"/>
          </a:xfrm>
          <a:prstGeom prst="rect">
            <a:avLst/>
          </a:prstGeom>
          <a:solidFill>
            <a:srgbClr val="0F766E">
              <a:alpha val="88000"/>
            </a:srgbClr>
          </a:solidFill>
          <a:ln/>
        </p:spPr>
        <p:txBody>
          <a:bodyPr/>
          <a:lstStyle/>
          <a:p>
            <a:endParaRPr lang="en-KE"/>
          </a:p>
        </p:txBody>
      </p:sp>
      <p:sp>
        <p:nvSpPr>
          <p:cNvPr id="37" name="Text 34"/>
          <p:cNvSpPr/>
          <p:nvPr/>
        </p:nvSpPr>
        <p:spPr>
          <a:xfrm>
            <a:off x="457200" y="4224528"/>
            <a:ext cx="8229600" cy="918972"/>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The engine works. Now we make it safe for patients.</a:t>
            </a:r>
            <a:endParaRPr lang="en-US" sz="2000" dirty="0"/>
          </a:p>
        </p:txBody>
      </p:sp>
      <p:sp>
        <p:nvSpPr>
          <p:cNvPr id="38" name="Slide Number Placeholder 0"/>
          <p:cNvSpPr>
            <a:spLocks noGrp="1"/>
          </p:cNvSpPr>
          <p:nvPr>
            <p:ph type="sldNum" sz="quarter" idx="4294967295"/>
          </p:nvPr>
        </p:nvSpPr>
        <p:spPr>
          <a:xfrm>
            <a:off x="8366760" y="4828032"/>
            <a:ext cx="54864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1400</Words>
  <Application>Microsoft Office PowerPoint</Application>
  <PresentationFormat>On-screen Show (16:9)</PresentationFormat>
  <Paragraphs>152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Trebuchet MS</vt:lpstr>
      <vt:lpstr>Office Theme</vt:lpstr>
      <vt:lpstr>AfyaPlus Triage Engine</vt:lpstr>
      <vt:lpstr>Why AfyaPlus Needs This</vt:lpstr>
      <vt:lpstr>What We Built</vt:lpstr>
      <vt:lpstr>Why GPT-4o-mini + llama3.2?</vt:lpstr>
      <vt:lpstr>How We Control AI Behaviour</vt:lpstr>
      <vt:lpstr>What This Prototype Does NOT Do</vt:lpstr>
      <vt:lpstr>What We Proved — And What's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Sammy Cherono</dc:creator>
  <cp:lastModifiedBy>Sammy Cherono</cp:lastModifiedBy>
  <cp:revision>1</cp:revision>
  <dcterms:created xsi:type="dcterms:W3CDTF">2026-07-06T08:25:37Z</dcterms:created>
  <dcterms:modified xsi:type="dcterms:W3CDTF">2026-07-06T08:49:28Z</dcterms:modified>
</cp:coreProperties>
</file>